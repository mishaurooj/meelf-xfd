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ur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99"/>
    <a:srgbClr val="CC66FF"/>
    <a:srgbClr val="FFCC99"/>
    <a:srgbClr val="FF6699"/>
    <a:srgbClr val="CC3399"/>
    <a:srgbClr val="6600FF"/>
    <a:srgbClr val="00CC99"/>
    <a:srgbClr val="FF9900"/>
    <a:srgbClr val="CCE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30" d="100"/>
          <a:sy n="30" d="100"/>
        </p:scale>
        <p:origin x="2674" y="8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ur-PK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ur-P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40C34-7896-4960-8449-41FCA172A4E6}" type="datetimeFigureOut">
              <a:rPr lang="ur-PK" smtClean="0"/>
              <a:t>25/07/1447</a:t>
            </a:fld>
            <a:endParaRPr lang="ur-P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r-P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48673-A6DA-4074-868C-1B7A0C943A96}" type="slidenum">
              <a:rPr lang="ur-PK" smtClean="0"/>
              <a:t>‹#›</a:t>
            </a:fld>
            <a:endParaRPr lang="ur-PK"/>
          </a:p>
        </p:txBody>
      </p:sp>
    </p:spTree>
    <p:extLst>
      <p:ext uri="{BB962C8B-B14F-4D97-AF65-F5344CB8AC3E}">
        <p14:creationId xmlns:p14="http://schemas.microsoft.com/office/powerpoint/2010/main" val="2542102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ur-P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ur-P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40C34-7896-4960-8449-41FCA172A4E6}" type="datetimeFigureOut">
              <a:rPr lang="ur-PK" smtClean="0"/>
              <a:t>25/07/1447</a:t>
            </a:fld>
            <a:endParaRPr lang="ur-P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r-P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48673-A6DA-4074-868C-1B7A0C943A96}" type="slidenum">
              <a:rPr lang="ur-PK" smtClean="0"/>
              <a:t>‹#›</a:t>
            </a:fld>
            <a:endParaRPr lang="ur-PK"/>
          </a:p>
        </p:txBody>
      </p:sp>
    </p:spTree>
    <p:extLst>
      <p:ext uri="{BB962C8B-B14F-4D97-AF65-F5344CB8AC3E}">
        <p14:creationId xmlns:p14="http://schemas.microsoft.com/office/powerpoint/2010/main" val="22266484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ur-P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40C34-7896-4960-8449-41FCA172A4E6}" type="datetimeFigureOut">
              <a:rPr lang="ur-PK" smtClean="0"/>
              <a:t>25/07/1447</a:t>
            </a:fld>
            <a:endParaRPr lang="ur-P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r-P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48673-A6DA-4074-868C-1B7A0C943A96}" type="slidenum">
              <a:rPr lang="ur-PK" smtClean="0"/>
              <a:t>‹#›</a:t>
            </a:fld>
            <a:endParaRPr lang="ur-PK"/>
          </a:p>
        </p:txBody>
      </p:sp>
    </p:spTree>
    <p:extLst>
      <p:ext uri="{BB962C8B-B14F-4D97-AF65-F5344CB8AC3E}">
        <p14:creationId xmlns:p14="http://schemas.microsoft.com/office/powerpoint/2010/main" val="1349320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ur-PK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ur-PK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ur-PK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40C34-7896-4960-8449-41FCA172A4E6}" type="datetimeFigureOut">
              <a:rPr lang="ur-PK" smtClean="0"/>
              <a:t>25/07/1447</a:t>
            </a:fld>
            <a:endParaRPr lang="ur-P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r-P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48673-A6DA-4074-868C-1B7A0C943A96}" type="slidenum">
              <a:rPr lang="ur-PK" smtClean="0"/>
              <a:t>‹#›</a:t>
            </a:fld>
            <a:endParaRPr lang="ur-PK"/>
          </a:p>
        </p:txBody>
      </p:sp>
    </p:spTree>
    <p:extLst>
      <p:ext uri="{BB962C8B-B14F-4D97-AF65-F5344CB8AC3E}">
        <p14:creationId xmlns:p14="http://schemas.microsoft.com/office/powerpoint/2010/main" val="3159864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ur-P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ur-PK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ur-PK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40C34-7896-4960-8449-41FCA172A4E6}" type="datetimeFigureOut">
              <a:rPr lang="ur-PK" smtClean="0"/>
              <a:t>25/07/1447</a:t>
            </a:fld>
            <a:endParaRPr lang="ur-P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r-P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48673-A6DA-4074-868C-1B7A0C943A96}" type="slidenum">
              <a:rPr lang="ur-PK" smtClean="0"/>
              <a:t>‹#›</a:t>
            </a:fld>
            <a:endParaRPr lang="ur-PK"/>
          </a:p>
        </p:txBody>
      </p:sp>
    </p:spTree>
    <p:extLst>
      <p:ext uri="{BB962C8B-B14F-4D97-AF65-F5344CB8AC3E}">
        <p14:creationId xmlns:p14="http://schemas.microsoft.com/office/powerpoint/2010/main" val="124097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ur-PK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40C34-7896-4960-8449-41FCA172A4E6}" type="datetimeFigureOut">
              <a:rPr lang="ur-PK" smtClean="0"/>
              <a:t>25/07/1447</a:t>
            </a:fld>
            <a:endParaRPr lang="ur-P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r-P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48673-A6DA-4074-868C-1B7A0C943A96}" type="slidenum">
              <a:rPr lang="ur-PK" smtClean="0"/>
              <a:t>‹#›</a:t>
            </a:fld>
            <a:endParaRPr lang="ur-PK"/>
          </a:p>
        </p:txBody>
      </p:sp>
    </p:spTree>
    <p:extLst>
      <p:ext uri="{BB962C8B-B14F-4D97-AF65-F5344CB8AC3E}">
        <p14:creationId xmlns:p14="http://schemas.microsoft.com/office/powerpoint/2010/main" val="1275184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40C34-7896-4960-8449-41FCA172A4E6}" type="datetimeFigureOut">
              <a:rPr lang="ur-PK" smtClean="0"/>
              <a:t>25/07/1447</a:t>
            </a:fld>
            <a:endParaRPr lang="ur-P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r-P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48673-A6DA-4074-868C-1B7A0C943A96}" type="slidenum">
              <a:rPr lang="ur-PK" smtClean="0"/>
              <a:t>‹#›</a:t>
            </a:fld>
            <a:endParaRPr lang="ur-PK"/>
          </a:p>
        </p:txBody>
      </p:sp>
    </p:spTree>
    <p:extLst>
      <p:ext uri="{BB962C8B-B14F-4D97-AF65-F5344CB8AC3E}">
        <p14:creationId xmlns:p14="http://schemas.microsoft.com/office/powerpoint/2010/main" val="2791615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ur-P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ur-PK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40C34-7896-4960-8449-41FCA172A4E6}" type="datetimeFigureOut">
              <a:rPr lang="ur-PK" smtClean="0"/>
              <a:t>25/07/1447</a:t>
            </a:fld>
            <a:endParaRPr lang="ur-P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r-P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48673-A6DA-4074-868C-1B7A0C943A96}" type="slidenum">
              <a:rPr lang="ur-PK" smtClean="0"/>
              <a:t>‹#›</a:t>
            </a:fld>
            <a:endParaRPr lang="ur-PK"/>
          </a:p>
        </p:txBody>
      </p:sp>
    </p:spTree>
    <p:extLst>
      <p:ext uri="{BB962C8B-B14F-4D97-AF65-F5344CB8AC3E}">
        <p14:creationId xmlns:p14="http://schemas.microsoft.com/office/powerpoint/2010/main" val="39570586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ur-PK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r-PK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40C34-7896-4960-8449-41FCA172A4E6}" type="datetimeFigureOut">
              <a:rPr lang="ur-PK" smtClean="0"/>
              <a:t>25/07/1447</a:t>
            </a:fld>
            <a:endParaRPr lang="ur-P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r-P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48673-A6DA-4074-868C-1B7A0C943A96}" type="slidenum">
              <a:rPr lang="ur-PK" smtClean="0"/>
              <a:t>‹#›</a:t>
            </a:fld>
            <a:endParaRPr lang="ur-PK"/>
          </a:p>
        </p:txBody>
      </p:sp>
    </p:spTree>
    <p:extLst>
      <p:ext uri="{BB962C8B-B14F-4D97-AF65-F5344CB8AC3E}">
        <p14:creationId xmlns:p14="http://schemas.microsoft.com/office/powerpoint/2010/main" val="22304408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ur-PK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ur-P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40C34-7896-4960-8449-41FCA172A4E6}" type="datetimeFigureOut">
              <a:rPr lang="ur-PK" smtClean="0"/>
              <a:t>25/07/1447</a:t>
            </a:fld>
            <a:endParaRPr lang="ur-P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r-P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48673-A6DA-4074-868C-1B7A0C943A96}" type="slidenum">
              <a:rPr lang="ur-PK" smtClean="0"/>
              <a:t>‹#›</a:t>
            </a:fld>
            <a:endParaRPr lang="ur-PK"/>
          </a:p>
        </p:txBody>
      </p:sp>
    </p:spTree>
    <p:extLst>
      <p:ext uri="{BB962C8B-B14F-4D97-AF65-F5344CB8AC3E}">
        <p14:creationId xmlns:p14="http://schemas.microsoft.com/office/powerpoint/2010/main" val="2951000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ur-PK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ur-P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40C34-7896-4960-8449-41FCA172A4E6}" type="datetimeFigureOut">
              <a:rPr lang="ur-PK" smtClean="0"/>
              <a:t>25/07/1447</a:t>
            </a:fld>
            <a:endParaRPr lang="ur-P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r-P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48673-A6DA-4074-868C-1B7A0C943A96}" type="slidenum">
              <a:rPr lang="ur-PK" smtClean="0"/>
              <a:t>‹#›</a:t>
            </a:fld>
            <a:endParaRPr lang="ur-PK"/>
          </a:p>
        </p:txBody>
      </p:sp>
    </p:spTree>
    <p:extLst>
      <p:ext uri="{BB962C8B-B14F-4D97-AF65-F5344CB8AC3E}">
        <p14:creationId xmlns:p14="http://schemas.microsoft.com/office/powerpoint/2010/main" val="2074630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ur-P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ur-P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140C34-7896-4960-8449-41FCA172A4E6}" type="datetimeFigureOut">
              <a:rPr lang="ur-PK" smtClean="0"/>
              <a:t>25/07/1447</a:t>
            </a:fld>
            <a:endParaRPr lang="ur-P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ur-P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B48673-A6DA-4074-868C-1B7A0C943A96}" type="slidenum">
              <a:rPr lang="ur-PK" smtClean="0"/>
              <a:t>‹#›</a:t>
            </a:fld>
            <a:endParaRPr lang="ur-PK"/>
          </a:p>
        </p:txBody>
      </p:sp>
    </p:spTree>
    <p:extLst>
      <p:ext uri="{BB962C8B-B14F-4D97-AF65-F5344CB8AC3E}">
        <p14:creationId xmlns:p14="http://schemas.microsoft.com/office/powerpoint/2010/main" val="2445197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r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814711" y="573231"/>
            <a:ext cx="4628572" cy="1745673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1" anchor="ctr"/>
          <a:lstStyle/>
          <a:p>
            <a:pPr marL="400050" indent="-400050">
              <a:buFont typeface="+mj-lt"/>
              <a:buAutoNum type="romanLcPeriod"/>
            </a:pPr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Read CSV rows as time-ordered samples</a:t>
            </a:r>
          </a:p>
          <a:p>
            <a:pPr marL="400050" indent="-400050">
              <a:buFont typeface="+mj-lt"/>
              <a:buAutoNum type="romanLcPeriod"/>
            </a:pPr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Extract only the 16 signal columns</a:t>
            </a:r>
          </a:p>
          <a:p>
            <a:pPr marL="400050" indent="-400050">
              <a:buFont typeface="+mj-lt"/>
              <a:buAutoNum type="romanLcPeriod"/>
            </a:pPr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Discard timestamp if present</a:t>
            </a:r>
            <a:endParaRPr lang="ur-PK" sz="24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6" name="Right Arrow 5"/>
          <p:cNvSpPr/>
          <p:nvPr/>
        </p:nvSpPr>
        <p:spPr>
          <a:xfrm>
            <a:off x="-1020979" y="658198"/>
            <a:ext cx="1856510" cy="1006763"/>
          </a:xfrm>
          <a:prstGeom prst="rightArrow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Raw .csv file</a:t>
            </a:r>
            <a:endParaRPr lang="ur-PK" sz="24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14711" y="-228732"/>
            <a:ext cx="4507345" cy="452581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200" b="1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CSV Loader &amp; Signal Parser</a:t>
            </a:r>
            <a:endParaRPr lang="ur-PK" sz="3200" b="1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-7195764" y="-1917720"/>
            <a:ext cx="5062928" cy="99038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200" b="1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AUV Fault Diagnosis Dataset</a:t>
            </a:r>
            <a:endParaRPr lang="ur-PK" sz="3200" b="1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9" name="Flowchart: Multidocument 8"/>
          <p:cNvSpPr/>
          <p:nvPr/>
        </p:nvSpPr>
        <p:spPr>
          <a:xfrm>
            <a:off x="7126420" y="485484"/>
            <a:ext cx="2484581" cy="1921164"/>
          </a:xfrm>
          <a:prstGeom prst="flowChartMultidocumen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Fixed-Length Window Generator</a:t>
            </a:r>
            <a:endParaRPr lang="ur-PK" sz="24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126420" y="-846980"/>
            <a:ext cx="2921111" cy="900946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200" b="1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Temporal Windowing (Preprocessing)</a:t>
            </a:r>
            <a:endParaRPr lang="ur-PK" sz="3200" b="1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-1094717" y="1412020"/>
            <a:ext cx="19373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5" idx="3"/>
            <a:endCxn id="9" idx="1"/>
          </p:cNvCxnSpPr>
          <p:nvPr/>
        </p:nvCxnSpPr>
        <p:spPr>
          <a:xfrm flipV="1">
            <a:off x="5443283" y="1446066"/>
            <a:ext cx="1683137" cy="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588897" y="908293"/>
            <a:ext cx="1430200" cy="4616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2400" dirty="0" smtClean="0">
                <a:latin typeface="Arial Narrow" panose="020B0606020202030204" pitchFamily="34" charset="0"/>
              </a:rPr>
              <a:t>X∈R^T×16</a:t>
            </a:r>
            <a:endParaRPr lang="ur-PK" sz="2400" dirty="0">
              <a:latin typeface="Arial Narrow" panose="020B0606020202030204" pitchFamily="34" charset="0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11161237" y="437352"/>
            <a:ext cx="3042745" cy="1833420"/>
          </a:xfrm>
          <a:prstGeom prst="ellipse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en-US" sz="2400" smtClean="0">
                <a:solidFill>
                  <a:schemeClr val="tx1"/>
                </a:solidFill>
                <a:latin typeface="Arial Narrow" panose="020B0606020202030204" pitchFamily="34" charset="0"/>
              </a:rPr>
              <a:t>Channel-wise Normalization</a:t>
            </a:r>
            <a:endParaRPr lang="ur-PK" sz="240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109284" y="-1038585"/>
            <a:ext cx="7014567" cy="4676379"/>
          </a:xfrm>
          <a:prstGeom prst="roundRect">
            <a:avLst>
              <a:gd name="adj" fmla="val 16667"/>
            </a:avLst>
          </a:prstGeom>
          <a:ln>
            <a:solidFill>
              <a:schemeClr val="tx1"/>
            </a:solidFill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21" name="Rounded Rectangle 20"/>
          <p:cNvSpPr/>
          <p:nvPr/>
        </p:nvSpPr>
        <p:spPr>
          <a:xfrm>
            <a:off x="11201036" y="-594269"/>
            <a:ext cx="2921111" cy="900946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200" b="1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Feature Normalization</a:t>
            </a:r>
            <a:endParaRPr lang="ur-PK" sz="3200" b="1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cxnSp>
        <p:nvCxnSpPr>
          <p:cNvPr id="23" name="Straight Arrow Connector 22"/>
          <p:cNvCxnSpPr>
            <a:stCxn id="9" idx="3"/>
          </p:cNvCxnSpPr>
          <p:nvPr/>
        </p:nvCxnSpPr>
        <p:spPr>
          <a:xfrm>
            <a:off x="9611001" y="1446066"/>
            <a:ext cx="15502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9645899" y="984730"/>
            <a:ext cx="1544012" cy="4616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2400" dirty="0" smtClean="0">
                <a:latin typeface="Arial Narrow" panose="020B0606020202030204" pitchFamily="34" charset="0"/>
              </a:rPr>
              <a:t>Wi​∈R^L×16</a:t>
            </a:r>
            <a:endParaRPr lang="ur-PK" sz="2400" dirty="0">
              <a:latin typeface="Arial Narrow" panose="020B0606020202030204" pitchFamily="34" charset="0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9724920" y="2869324"/>
            <a:ext cx="4459827" cy="3988676"/>
          </a:xfrm>
          <a:prstGeom prst="roundRect">
            <a:avLst/>
          </a:prstGeom>
          <a:solidFill>
            <a:srgbClr val="6600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ur-PK" sz="240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29" name="Rectangle 28"/>
          <p:cNvSpPr/>
          <p:nvPr/>
        </p:nvSpPr>
        <p:spPr>
          <a:xfrm rot="5400000">
            <a:off x="7076689" y="4751847"/>
            <a:ext cx="4821448" cy="523220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2800" b="1" dirty="0" smtClean="0">
                <a:latin typeface="Arial Narrow" panose="020B0606020202030204" pitchFamily="34" charset="0"/>
              </a:rPr>
              <a:t>Temporal Dynamics Expert (TED)</a:t>
            </a:r>
            <a:endParaRPr lang="ur-PK" sz="2800" b="1" dirty="0">
              <a:latin typeface="Arial Narrow" panose="020B0606020202030204" pitchFamily="34" charset="0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10774012" y="3105847"/>
            <a:ext cx="2257352" cy="59908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Conv1D </a:t>
            </a:r>
            <a:endParaRPr lang="ur-PK" sz="24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10774012" y="4015823"/>
            <a:ext cx="2257352" cy="599089"/>
          </a:xfrm>
          <a:prstGeom prst="round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Bias addition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581784" y="4977215"/>
            <a:ext cx="2741515" cy="585713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Nonlinear activation</a:t>
            </a:r>
            <a:endParaRPr lang="ur-PK" sz="24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10730752" y="5860173"/>
            <a:ext cx="2257352" cy="599089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Temporal pooling</a:t>
            </a:r>
            <a:endParaRPr lang="ur-PK" sz="24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cxnSp>
        <p:nvCxnSpPr>
          <p:cNvPr id="37" name="Elbow Connector 36"/>
          <p:cNvCxnSpPr>
            <a:stCxn id="20" idx="6"/>
            <a:endCxn id="26" idx="3"/>
          </p:cNvCxnSpPr>
          <p:nvPr/>
        </p:nvCxnSpPr>
        <p:spPr>
          <a:xfrm flipH="1">
            <a:off x="14184747" y="1354062"/>
            <a:ext cx="19235" cy="3509600"/>
          </a:xfrm>
          <a:prstGeom prst="bentConnector3">
            <a:avLst>
              <a:gd name="adj1" fmla="val -118845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 rot="5400000">
            <a:off x="13966529" y="1804153"/>
            <a:ext cx="1516762" cy="4616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2400" dirty="0" smtClean="0">
                <a:latin typeface="Arial Narrow" panose="020B0606020202030204" pitchFamily="34" charset="0"/>
              </a:rPr>
              <a:t>W~∈RL×16</a:t>
            </a:r>
            <a:endParaRPr lang="ur-PK" sz="2400" dirty="0">
              <a:latin typeface="Arial Narrow" panose="020B0606020202030204" pitchFamily="34" charset="0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4693489" y="2869324"/>
            <a:ext cx="4459827" cy="3988676"/>
          </a:xfrm>
          <a:prstGeom prst="roundRect">
            <a:avLst/>
          </a:prstGeom>
          <a:solidFill>
            <a:srgbClr val="00CC99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ur-PK" sz="240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41" name="Rectangle 40"/>
          <p:cNvSpPr/>
          <p:nvPr/>
        </p:nvSpPr>
        <p:spPr>
          <a:xfrm rot="5400000">
            <a:off x="2117797" y="4711911"/>
            <a:ext cx="4695516" cy="523220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2800" b="1" dirty="0" smtClean="0">
                <a:latin typeface="Arial Narrow" panose="020B0606020202030204" pitchFamily="34" charset="0"/>
              </a:rPr>
              <a:t>Frequency Domain Expert (FDE)</a:t>
            </a:r>
            <a:endParaRPr lang="ur-PK" sz="2800" b="1" dirty="0">
              <a:latin typeface="Arial Narrow" panose="020B0606020202030204" pitchFamily="34" charset="0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4878660" y="3113157"/>
            <a:ext cx="3981304" cy="72801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Discrete Fourier Transform </a:t>
            </a:r>
          </a:p>
          <a:p>
            <a:pPr algn="ctr"/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(per channel)</a:t>
            </a:r>
            <a:endParaRPr lang="ur-PK" sz="24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5139320" y="4165842"/>
            <a:ext cx="3507706" cy="575059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Magnitude spectrum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142952" y="5000827"/>
            <a:ext cx="3428585" cy="789614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Feature projection </a:t>
            </a:r>
          </a:p>
          <a:p>
            <a:pPr algn="ctr"/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(dense or </a:t>
            </a:r>
            <a:r>
              <a:rPr lang="en-US" sz="2400" dirty="0" err="1" smtClean="0">
                <a:solidFill>
                  <a:schemeClr val="tx1"/>
                </a:solidFill>
                <a:latin typeface="Arial Narrow" panose="020B0606020202030204" pitchFamily="34" charset="0"/>
              </a:rPr>
              <a:t>conv</a:t>
            </a:r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)</a:t>
            </a:r>
            <a:endParaRPr lang="ur-PK" sz="24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-337942" y="2869324"/>
            <a:ext cx="4459827" cy="3988676"/>
          </a:xfrm>
          <a:prstGeom prst="roundRect">
            <a:avLst/>
          </a:prstGeom>
          <a:solidFill>
            <a:srgbClr val="FF99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ur-PK" sz="240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47" name="Rectangle 46"/>
          <p:cNvSpPr/>
          <p:nvPr/>
        </p:nvSpPr>
        <p:spPr>
          <a:xfrm rot="5400000">
            <a:off x="-3009047" y="4751847"/>
            <a:ext cx="4796506" cy="523220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2800" b="1" dirty="0" smtClean="0">
                <a:latin typeface="Arial Narrow" panose="020B0606020202030204" pitchFamily="34" charset="0"/>
              </a:rPr>
              <a:t>Statistical Behavior Expert (SBE)</a:t>
            </a:r>
            <a:endParaRPr lang="ur-PK" sz="2800" b="1" dirty="0">
              <a:latin typeface="Arial Narrow" panose="020B0606020202030204" pitchFamily="34" charset="0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711150" y="3105847"/>
            <a:ext cx="2257352" cy="599089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Global Pooling</a:t>
            </a:r>
            <a:endParaRPr lang="ur-PK" sz="24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514399" y="3890171"/>
            <a:ext cx="2744358" cy="174085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For each channel:</a:t>
            </a:r>
          </a:p>
          <a:p>
            <a:pPr algn="ctr"/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(</a:t>
            </a:r>
            <a:r>
              <a:rPr lang="en-US" sz="2400" dirty="0" err="1" smtClean="0">
                <a:solidFill>
                  <a:schemeClr val="tx1"/>
                </a:solidFill>
                <a:latin typeface="Arial Narrow" panose="020B0606020202030204" pitchFamily="34" charset="0"/>
              </a:rPr>
              <a:t>i</a:t>
            </a:r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)Mean </a:t>
            </a:r>
          </a:p>
          <a:p>
            <a:pPr algn="ctr"/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(ii) Variance</a:t>
            </a:r>
          </a:p>
          <a:p>
            <a:pPr algn="ctr"/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 (iii)Kurtosis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39195" y="5828101"/>
            <a:ext cx="2257352" cy="599089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Arial Narrow" panose="020B0606020202030204" pitchFamily="34" charset="0"/>
              </a:rPr>
              <a:t>C</a:t>
            </a:r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oncatenation</a:t>
            </a:r>
            <a:endParaRPr lang="ur-PK" sz="24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cxnSp>
        <p:nvCxnSpPr>
          <p:cNvPr id="53" name="Elbow Connector 52"/>
          <p:cNvCxnSpPr>
            <a:stCxn id="20" idx="4"/>
            <a:endCxn id="40" idx="0"/>
          </p:cNvCxnSpPr>
          <p:nvPr/>
        </p:nvCxnSpPr>
        <p:spPr>
          <a:xfrm rot="5400000">
            <a:off x="9503731" y="-309555"/>
            <a:ext cx="598552" cy="575920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Elbow Connector 55"/>
          <p:cNvCxnSpPr>
            <a:stCxn id="20" idx="3"/>
            <a:endCxn id="46" idx="0"/>
          </p:cNvCxnSpPr>
          <p:nvPr/>
        </p:nvCxnSpPr>
        <p:spPr>
          <a:xfrm rot="5400000">
            <a:off x="6315880" y="-2421633"/>
            <a:ext cx="867050" cy="97148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9784608" y="2177189"/>
            <a:ext cx="1516762" cy="4616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2400" dirty="0" smtClean="0">
                <a:latin typeface="Arial Narrow" panose="020B0606020202030204" pitchFamily="34" charset="0"/>
              </a:rPr>
              <a:t>W~∈RL×16</a:t>
            </a:r>
            <a:endParaRPr lang="ur-PK" sz="2400" dirty="0">
              <a:latin typeface="Arial Narrow" panose="020B0606020202030204" pitchFamily="34" charset="0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12557287" y="2503770"/>
            <a:ext cx="1516762" cy="461665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r>
              <a:rPr lang="en-US" sz="2400" dirty="0" smtClean="0">
                <a:latin typeface="Arial Narrow" panose="020B0606020202030204" pitchFamily="34" charset="0"/>
              </a:rPr>
              <a:t>W~∈RL×16</a:t>
            </a:r>
            <a:endParaRPr lang="ur-PK" sz="2400" dirty="0">
              <a:latin typeface="Arial Narrow" panose="020B0606020202030204" pitchFamily="34" charset="0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5742581" y="6031556"/>
            <a:ext cx="2257352" cy="599089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Feature Mapping</a:t>
            </a:r>
            <a:endParaRPr lang="ur-PK" sz="24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-379962" y="7854511"/>
            <a:ext cx="14564709" cy="991316"/>
          </a:xfrm>
          <a:prstGeom prst="roundRect">
            <a:avLst/>
          </a:prstGeom>
          <a:solidFill>
            <a:srgbClr val="FF6699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ur-PK" sz="240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5285" y="8043027"/>
            <a:ext cx="4467485" cy="551545"/>
          </a:xfrm>
          <a:prstGeom prst="roundRect">
            <a:avLst/>
          </a:prstGeom>
          <a:solidFill>
            <a:srgbClr val="CC66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Channel alignment</a:t>
            </a:r>
            <a:endParaRPr lang="ur-PK" sz="24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8612982" y="7990358"/>
            <a:ext cx="4091201" cy="602637"/>
          </a:xfrm>
          <a:prstGeom prst="roundRect">
            <a:avLst/>
          </a:prstGeom>
          <a:solidFill>
            <a:srgbClr val="FF9999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Arial Narrow" panose="020B0606020202030204" pitchFamily="34" charset="0"/>
              </a:rPr>
              <a:t>P</a:t>
            </a:r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rojection layer</a:t>
            </a:r>
          </a:p>
        </p:txBody>
      </p:sp>
      <p:cxnSp>
        <p:nvCxnSpPr>
          <p:cNvPr id="68" name="Elbow Connector 67"/>
          <p:cNvCxnSpPr>
            <a:stCxn id="46" idx="2"/>
            <a:endCxn id="62" idx="0"/>
          </p:cNvCxnSpPr>
          <p:nvPr/>
        </p:nvCxnSpPr>
        <p:spPr>
          <a:xfrm rot="16200000" flipH="1">
            <a:off x="3898927" y="4851044"/>
            <a:ext cx="996511" cy="501042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Elbow Connector 73"/>
          <p:cNvCxnSpPr>
            <a:stCxn id="26" idx="2"/>
            <a:endCxn id="62" idx="0"/>
          </p:cNvCxnSpPr>
          <p:nvPr/>
        </p:nvCxnSpPr>
        <p:spPr>
          <a:xfrm rot="5400000">
            <a:off x="8930359" y="4830035"/>
            <a:ext cx="996511" cy="505244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/>
          <p:nvPr/>
        </p:nvCxnSpPr>
        <p:spPr>
          <a:xfrm>
            <a:off x="6891873" y="6868510"/>
            <a:ext cx="10519" cy="56230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1924355" y="11045841"/>
            <a:ext cx="9624410" cy="233332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endParaRPr lang="ur-PK" sz="240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88" name="Down Arrow Callout 87"/>
          <p:cNvSpPr/>
          <p:nvPr/>
        </p:nvSpPr>
        <p:spPr>
          <a:xfrm>
            <a:off x="1668780" y="9284197"/>
            <a:ext cx="10561320" cy="1801580"/>
          </a:xfrm>
          <a:prstGeom prst="downArrowCallout">
            <a:avLst/>
          </a:prstGeom>
          <a:solidFill>
            <a:srgbClr val="FFCC99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Attention-weighted feature fusion</a:t>
            </a:r>
          </a:p>
          <a:p>
            <a:pPr algn="ctr"/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Z=</a:t>
            </a:r>
            <a:r>
              <a:rPr lang="el-GR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α</a:t>
            </a:r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t​</a:t>
            </a:r>
            <a:r>
              <a:rPr lang="en-US" sz="2400" dirty="0" err="1" smtClean="0">
                <a:solidFill>
                  <a:schemeClr val="tx1"/>
                </a:solidFill>
                <a:latin typeface="Arial Narrow" panose="020B0606020202030204" pitchFamily="34" charset="0"/>
              </a:rPr>
              <a:t>Zt</a:t>
            </a:r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​+</a:t>
            </a:r>
            <a:r>
              <a:rPr lang="el-GR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α</a:t>
            </a:r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f​</a:t>
            </a:r>
            <a:r>
              <a:rPr lang="en-US" sz="2400" dirty="0" err="1" smtClean="0">
                <a:solidFill>
                  <a:schemeClr val="tx1"/>
                </a:solidFill>
                <a:latin typeface="Arial Narrow" panose="020B0606020202030204" pitchFamily="34" charset="0"/>
              </a:rPr>
              <a:t>Zf</a:t>
            </a:r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​+</a:t>
            </a:r>
            <a:r>
              <a:rPr lang="el-GR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α</a:t>
            </a:r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s​</a:t>
            </a:r>
            <a:r>
              <a:rPr lang="en-US" sz="2400" dirty="0" err="1" smtClean="0">
                <a:solidFill>
                  <a:schemeClr val="tx1"/>
                </a:solidFill>
                <a:latin typeface="Arial Narrow" panose="020B0606020202030204" pitchFamily="34" charset="0"/>
              </a:rPr>
              <a:t>Zs</a:t>
            </a:r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​</a:t>
            </a:r>
            <a:endParaRPr lang="ur-PK" sz="24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cxnSp>
        <p:nvCxnSpPr>
          <p:cNvPr id="92" name="Elbow Connector 91"/>
          <p:cNvCxnSpPr>
            <a:stCxn id="62" idx="2"/>
            <a:endCxn id="88" idx="0"/>
          </p:cNvCxnSpPr>
          <p:nvPr/>
        </p:nvCxnSpPr>
        <p:spPr>
          <a:xfrm rot="16200000" flipH="1">
            <a:off x="6706731" y="9041488"/>
            <a:ext cx="438370" cy="47047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Elbow Connector 93"/>
          <p:cNvCxnSpPr>
            <a:stCxn id="62" idx="1"/>
            <a:endCxn id="88" idx="1"/>
          </p:cNvCxnSpPr>
          <p:nvPr/>
        </p:nvCxnSpPr>
        <p:spPr>
          <a:xfrm rot="10800000" flipH="1" flipV="1">
            <a:off x="-379962" y="8350169"/>
            <a:ext cx="2048742" cy="1519334"/>
          </a:xfrm>
          <a:prstGeom prst="bentConnector3">
            <a:avLst>
              <a:gd name="adj1" fmla="val -1115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Elbow Connector 95"/>
          <p:cNvCxnSpPr>
            <a:stCxn id="62" idx="3"/>
            <a:endCxn id="88" idx="3"/>
          </p:cNvCxnSpPr>
          <p:nvPr/>
        </p:nvCxnSpPr>
        <p:spPr>
          <a:xfrm flipH="1">
            <a:off x="12230100" y="8350169"/>
            <a:ext cx="1954647" cy="1519334"/>
          </a:xfrm>
          <a:prstGeom prst="bentConnector3">
            <a:avLst>
              <a:gd name="adj1" fmla="val -11695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Chevron 97"/>
          <p:cNvSpPr/>
          <p:nvPr/>
        </p:nvSpPr>
        <p:spPr>
          <a:xfrm>
            <a:off x="2507835" y="11280919"/>
            <a:ext cx="3879838" cy="1667435"/>
          </a:xfrm>
          <a:prstGeom prst="chevron">
            <a:avLst/>
          </a:prstGeom>
          <a:solidFill>
            <a:srgbClr val="CCECFF"/>
          </a:solidFill>
          <a:ln>
            <a:solidFill>
              <a:srgbClr val="CCEC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2400" smtClean="0">
                <a:solidFill>
                  <a:schemeClr val="tx1"/>
                </a:solidFill>
                <a:latin typeface="Arial Narrow" panose="020B0606020202030204" pitchFamily="34" charset="0"/>
              </a:rPr>
              <a:t>Fully Connected</a:t>
            </a:r>
            <a:endParaRPr lang="ur-PK" sz="240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99" name="Chevron 98"/>
          <p:cNvSpPr/>
          <p:nvPr/>
        </p:nvSpPr>
        <p:spPr>
          <a:xfrm>
            <a:off x="5992334" y="11312288"/>
            <a:ext cx="3879838" cy="1667435"/>
          </a:xfrm>
          <a:prstGeom prst="chevron">
            <a:avLst/>
          </a:prstGeom>
          <a:solidFill>
            <a:srgbClr val="FF6699"/>
          </a:solidFill>
          <a:ln>
            <a:solidFill>
              <a:srgbClr val="FF66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Softmax</a:t>
            </a:r>
            <a:endParaRPr lang="ur-PK" sz="24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-64118" y="13676007"/>
            <a:ext cx="2573382" cy="736109"/>
          </a:xfrm>
          <a:prstGeom prst="round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2400" smtClean="0">
                <a:solidFill>
                  <a:schemeClr val="tx1"/>
                </a:solidFill>
                <a:latin typeface="Arial Narrow" panose="020B0606020202030204" pitchFamily="34" charset="0"/>
              </a:rPr>
              <a:t>Normal</a:t>
            </a:r>
            <a:endParaRPr lang="ur-PK" sz="240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2808305" y="13676006"/>
            <a:ext cx="2573382" cy="736109"/>
          </a:xfrm>
          <a:prstGeom prst="round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2400" dirty="0" err="1" smtClean="0">
                <a:solidFill>
                  <a:schemeClr val="tx1"/>
                </a:solidFill>
                <a:latin typeface="Arial Narrow" panose="020B0606020202030204" pitchFamily="34" charset="0"/>
              </a:rPr>
              <a:t>AddWeight</a:t>
            </a:r>
            <a:endParaRPr lang="ur-PK" sz="24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08" name="Rounded Rectangle 107"/>
          <p:cNvSpPr/>
          <p:nvPr/>
        </p:nvSpPr>
        <p:spPr>
          <a:xfrm>
            <a:off x="5763028" y="13676006"/>
            <a:ext cx="2573382" cy="736109"/>
          </a:xfrm>
          <a:prstGeom prst="round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2400" dirty="0" err="1" smtClean="0">
                <a:solidFill>
                  <a:schemeClr val="tx1"/>
                </a:solidFill>
                <a:latin typeface="Arial Narrow" panose="020B0606020202030204" pitchFamily="34" charset="0"/>
              </a:rPr>
              <a:t>PressureGain</a:t>
            </a:r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 constant</a:t>
            </a:r>
            <a:endParaRPr lang="ur-PK" sz="24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09" name="Rounded Rectangle 108"/>
          <p:cNvSpPr/>
          <p:nvPr/>
        </p:nvSpPr>
        <p:spPr>
          <a:xfrm>
            <a:off x="8647026" y="13676005"/>
            <a:ext cx="2573382" cy="736109"/>
          </a:xfrm>
          <a:prstGeom prst="round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2400" dirty="0" err="1" smtClean="0">
                <a:solidFill>
                  <a:schemeClr val="tx1"/>
                </a:solidFill>
                <a:latin typeface="Arial Narrow" panose="020B0606020202030204" pitchFamily="34" charset="0"/>
              </a:rPr>
              <a:t>PropellerDamage</a:t>
            </a:r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 </a:t>
            </a:r>
            <a:r>
              <a:rPr lang="en-US" sz="2400" dirty="0" err="1" smtClean="0">
                <a:solidFill>
                  <a:schemeClr val="tx1"/>
                </a:solidFill>
                <a:latin typeface="Arial Narrow" panose="020B0606020202030204" pitchFamily="34" charset="0"/>
              </a:rPr>
              <a:t>sligh</a:t>
            </a:r>
            <a:endParaRPr lang="ur-PK" sz="24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1548765" y="13676005"/>
            <a:ext cx="2573382" cy="736109"/>
          </a:xfrm>
          <a:prstGeom prst="round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2400" dirty="0" err="1" smtClean="0">
                <a:solidFill>
                  <a:schemeClr val="tx1"/>
                </a:solidFill>
                <a:latin typeface="Arial Narrow" panose="020B0606020202030204" pitchFamily="34" charset="0"/>
              </a:rPr>
              <a:t>PropellerDamage</a:t>
            </a:r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 bad</a:t>
            </a:r>
            <a:endParaRPr lang="ur-PK" sz="24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cxnSp>
        <p:nvCxnSpPr>
          <p:cNvPr id="114" name="Elbow Connector 113"/>
          <p:cNvCxnSpPr>
            <a:stCxn id="105" idx="1"/>
            <a:endCxn id="106" idx="0"/>
          </p:cNvCxnSpPr>
          <p:nvPr/>
        </p:nvCxnSpPr>
        <p:spPr>
          <a:xfrm rot="10800000" flipV="1">
            <a:off x="1222573" y="12212501"/>
            <a:ext cx="701782" cy="146350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Elbow Connector 115"/>
          <p:cNvCxnSpPr>
            <a:stCxn id="105" idx="3"/>
            <a:endCxn id="110" idx="0"/>
          </p:cNvCxnSpPr>
          <p:nvPr/>
        </p:nvCxnSpPr>
        <p:spPr>
          <a:xfrm>
            <a:off x="11548765" y="12212502"/>
            <a:ext cx="1286691" cy="146350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Rounded Rectangle 130"/>
          <p:cNvSpPr/>
          <p:nvPr/>
        </p:nvSpPr>
        <p:spPr>
          <a:xfrm>
            <a:off x="-4608825" y="2540216"/>
            <a:ext cx="19737538" cy="1233956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ur-PK" sz="240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cxnSp>
        <p:nvCxnSpPr>
          <p:cNvPr id="118" name="Elbow Connector 117"/>
          <p:cNvCxnSpPr/>
          <p:nvPr/>
        </p:nvCxnSpPr>
        <p:spPr>
          <a:xfrm rot="5400000">
            <a:off x="5356706" y="12192112"/>
            <a:ext cx="296844" cy="2641564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Elbow Connector 125"/>
          <p:cNvCxnSpPr>
            <a:stCxn id="105" idx="2"/>
            <a:endCxn id="109" idx="0"/>
          </p:cNvCxnSpPr>
          <p:nvPr/>
        </p:nvCxnSpPr>
        <p:spPr>
          <a:xfrm rot="16200000" flipH="1">
            <a:off x="8186717" y="11929004"/>
            <a:ext cx="296843" cy="3197157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127"/>
          <p:cNvCxnSpPr>
            <a:endCxn id="108" idx="0"/>
          </p:cNvCxnSpPr>
          <p:nvPr/>
        </p:nvCxnSpPr>
        <p:spPr>
          <a:xfrm>
            <a:off x="6891873" y="13527682"/>
            <a:ext cx="157846" cy="14832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Striped Right Arrow 131"/>
          <p:cNvSpPr/>
          <p:nvPr/>
        </p:nvSpPr>
        <p:spPr>
          <a:xfrm flipH="1">
            <a:off x="-4575098" y="4732311"/>
            <a:ext cx="3054927" cy="2415687"/>
          </a:xfrm>
          <a:prstGeom prst="stripedRightArrow">
            <a:avLst/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Predicted class</a:t>
            </a:r>
          </a:p>
          <a:p>
            <a:pPr algn="ctr"/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𝑦^	</a:t>
            </a:r>
            <a:endParaRPr lang="ur-PK" sz="24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33" name="Striped Right Arrow 132"/>
          <p:cNvSpPr/>
          <p:nvPr/>
        </p:nvSpPr>
        <p:spPr>
          <a:xfrm flipH="1">
            <a:off x="-4608826" y="7346508"/>
            <a:ext cx="3054927" cy="2415687"/>
          </a:xfrm>
          <a:prstGeom prst="stripedRightArrow">
            <a:avLst/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en-US" sz="2400" b="1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Class probabilities</a:t>
            </a:r>
            <a:endParaRPr lang="en-US" sz="2400" dirty="0" smtClean="0">
              <a:solidFill>
                <a:schemeClr val="tx1"/>
              </a:solidFill>
              <a:latin typeface="Arial Narrow" panose="020B0606020202030204" pitchFamily="34" charset="0"/>
            </a:endParaRPr>
          </a:p>
          <a:p>
            <a:pPr algn="ctr"/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p(</a:t>
            </a:r>
            <a:r>
              <a:rPr lang="en-US" sz="2400" dirty="0" err="1" smtClean="0">
                <a:solidFill>
                  <a:schemeClr val="tx1"/>
                </a:solidFill>
                <a:latin typeface="Arial Narrow" panose="020B0606020202030204" pitchFamily="34" charset="0"/>
              </a:rPr>
              <a:t>c∣Z</a:t>
            </a:r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)</a:t>
            </a:r>
            <a:endParaRPr lang="ur-PK" sz="24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34" name="Striped Right Arrow 133"/>
          <p:cNvSpPr/>
          <p:nvPr/>
        </p:nvSpPr>
        <p:spPr>
          <a:xfrm flipH="1">
            <a:off x="-4587394" y="10146135"/>
            <a:ext cx="3054927" cy="2415687"/>
          </a:xfrm>
          <a:prstGeom prst="stripedRightArrow">
            <a:avLst/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en-US" sz="2400" b="1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Expert weights</a:t>
            </a:r>
            <a:endParaRPr lang="en-US" sz="2400" dirty="0" smtClean="0">
              <a:solidFill>
                <a:schemeClr val="tx1"/>
              </a:solidFill>
              <a:latin typeface="Arial Narrow" panose="020B0606020202030204" pitchFamily="34" charset="0"/>
            </a:endParaRPr>
          </a:p>
          <a:p>
            <a:pPr algn="ctr"/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(</a:t>
            </a:r>
            <a:r>
              <a:rPr lang="el-GR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α</a:t>
            </a:r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t,</a:t>
            </a:r>
            <a:r>
              <a:rPr lang="el-GR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α</a:t>
            </a:r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f,</a:t>
            </a:r>
            <a:r>
              <a:rPr lang="el-GR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α</a:t>
            </a:r>
            <a:r>
              <a:rPr lang="en-US" sz="2400" dirty="0" smtClean="0">
                <a:solidFill>
                  <a:schemeClr val="tx1"/>
                </a:solidFill>
                <a:latin typeface="Arial Narrow" panose="020B0606020202030204" pitchFamily="34" charset="0"/>
              </a:rPr>
              <a:t>s)</a:t>
            </a:r>
            <a:endParaRPr lang="ur-PK" sz="24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38" name="Rectangle 137"/>
          <p:cNvSpPr/>
          <p:nvPr/>
        </p:nvSpPr>
        <p:spPr>
          <a:xfrm>
            <a:off x="1006042" y="6949229"/>
            <a:ext cx="925253" cy="4616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2400" dirty="0" err="1" smtClean="0">
                <a:latin typeface="Arial Narrow" panose="020B0606020202030204" pitchFamily="34" charset="0"/>
              </a:rPr>
              <a:t>Zt</a:t>
            </a:r>
            <a:r>
              <a:rPr lang="en-US" sz="2400" dirty="0" smtClean="0">
                <a:latin typeface="Arial Narrow" panose="020B0606020202030204" pitchFamily="34" charset="0"/>
              </a:rPr>
              <a:t>​∈Rd</a:t>
            </a:r>
            <a:endParaRPr lang="ur-PK" sz="2400" dirty="0">
              <a:latin typeface="Arial Narrow" panose="020B0606020202030204" pitchFamily="34" charset="0"/>
            </a:endParaRPr>
          </a:p>
        </p:txBody>
      </p:sp>
      <p:sp>
        <p:nvSpPr>
          <p:cNvPr id="139" name="Rectangle 138"/>
          <p:cNvSpPr/>
          <p:nvPr/>
        </p:nvSpPr>
        <p:spPr>
          <a:xfrm>
            <a:off x="6097030" y="6917166"/>
            <a:ext cx="925253" cy="4616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2400" dirty="0" err="1" smtClean="0">
                <a:latin typeface="Arial Narrow" panose="020B0606020202030204" pitchFamily="34" charset="0"/>
              </a:rPr>
              <a:t>Zf</a:t>
            </a:r>
            <a:r>
              <a:rPr lang="en-US" sz="2400" dirty="0" smtClean="0">
                <a:latin typeface="Arial Narrow" panose="020B0606020202030204" pitchFamily="34" charset="0"/>
              </a:rPr>
              <a:t>​∈Rd</a:t>
            </a:r>
            <a:endParaRPr lang="ur-PK" sz="2400" dirty="0">
              <a:latin typeface="Arial Narrow" panose="020B0606020202030204" pitchFamily="34" charset="0"/>
            </a:endParaRPr>
          </a:p>
        </p:txBody>
      </p:sp>
      <p:sp>
        <p:nvSpPr>
          <p:cNvPr id="140" name="Rectangle 139"/>
          <p:cNvSpPr/>
          <p:nvPr/>
        </p:nvSpPr>
        <p:spPr>
          <a:xfrm>
            <a:off x="10988878" y="6949229"/>
            <a:ext cx="981359" cy="4616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2400" dirty="0" err="1" smtClean="0">
                <a:latin typeface="Arial Narrow" panose="020B0606020202030204" pitchFamily="34" charset="0"/>
              </a:rPr>
              <a:t>Zs</a:t>
            </a:r>
            <a:r>
              <a:rPr lang="en-US" sz="2400" dirty="0" smtClean="0">
                <a:latin typeface="Arial Narrow" panose="020B0606020202030204" pitchFamily="34" charset="0"/>
              </a:rPr>
              <a:t>​∈Rd</a:t>
            </a:r>
            <a:endParaRPr lang="ur-PK" sz="2400" dirty="0">
              <a:latin typeface="Arial Narrow" panose="020B0606020202030204" pitchFamily="34" charset="0"/>
            </a:endParaRPr>
          </a:p>
        </p:txBody>
      </p:sp>
      <p:sp>
        <p:nvSpPr>
          <p:cNvPr id="141" name="Rectangle 140"/>
          <p:cNvSpPr/>
          <p:nvPr/>
        </p:nvSpPr>
        <p:spPr>
          <a:xfrm>
            <a:off x="7583878" y="8834180"/>
            <a:ext cx="2731838" cy="4616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2400" dirty="0" smtClean="0">
                <a:latin typeface="Arial Narrow" panose="020B0606020202030204" pitchFamily="34" charset="0"/>
              </a:rPr>
              <a:t>Fused feature vector Z</a:t>
            </a:r>
            <a:endParaRPr lang="ur-PK" sz="2400" dirty="0">
              <a:latin typeface="Arial Narrow" panose="020B0606020202030204" pitchFamily="34" charset="0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9572610" y="11818613"/>
            <a:ext cx="1793598" cy="83099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Arial Narrow" panose="020B0606020202030204" pitchFamily="34" charset="0"/>
              </a:rPr>
              <a:t>p(</a:t>
            </a:r>
            <a:r>
              <a:rPr lang="en-US" sz="2400" b="1" dirty="0" err="1" smtClean="0">
                <a:latin typeface="Arial Narrow" panose="020B0606020202030204" pitchFamily="34" charset="0"/>
              </a:rPr>
              <a:t>c∣Z</a:t>
            </a:r>
            <a:r>
              <a:rPr lang="en-US" sz="2400" b="1" dirty="0" smtClean="0">
                <a:latin typeface="Arial Narrow" panose="020B0606020202030204" pitchFamily="34" charset="0"/>
              </a:rPr>
              <a:t>)</a:t>
            </a:r>
          </a:p>
          <a:p>
            <a:pPr algn="ctr"/>
            <a:r>
              <a:rPr lang="en-US" sz="2400" b="1" dirty="0" smtClean="0">
                <a:latin typeface="Arial Narrow" panose="020B0606020202030204" pitchFamily="34" charset="0"/>
              </a:rPr>
              <a:t>,c∈{1,…,5}</a:t>
            </a:r>
            <a:endParaRPr lang="ur-PK" sz="2400" b="1" dirty="0">
              <a:latin typeface="Arial Narrow" panose="020B0606020202030204" pitchFamily="34" charset="0"/>
            </a:endParaRPr>
          </a:p>
        </p:txBody>
      </p:sp>
      <p:cxnSp>
        <p:nvCxnSpPr>
          <p:cNvPr id="144" name="Straight Arrow Connector 143"/>
          <p:cNvCxnSpPr>
            <a:stCxn id="98" idx="3"/>
            <a:endCxn id="99" idx="1"/>
          </p:cNvCxnSpPr>
          <p:nvPr/>
        </p:nvCxnSpPr>
        <p:spPr>
          <a:xfrm>
            <a:off x="6387673" y="12114637"/>
            <a:ext cx="438379" cy="313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Rectangle 173"/>
          <p:cNvSpPr/>
          <p:nvPr/>
        </p:nvSpPr>
        <p:spPr>
          <a:xfrm>
            <a:off x="11570096" y="10431420"/>
            <a:ext cx="369684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b="1" dirty="0" smtClean="0">
                <a:latin typeface="Arial Narrow" panose="020B0606020202030204" pitchFamily="34" charset="0"/>
              </a:rPr>
              <a:t>Expert Fusion Module</a:t>
            </a:r>
            <a:endParaRPr lang="ur-PK" sz="3200" b="1" dirty="0">
              <a:latin typeface="Arial Narrow" panose="020B0606020202030204" pitchFamily="34" charset="0"/>
            </a:endParaRPr>
          </a:p>
        </p:txBody>
      </p:sp>
      <p:sp>
        <p:nvSpPr>
          <p:cNvPr id="175" name="Rectangle 174"/>
          <p:cNvSpPr/>
          <p:nvPr/>
        </p:nvSpPr>
        <p:spPr>
          <a:xfrm>
            <a:off x="-822203" y="10863574"/>
            <a:ext cx="2442076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200" b="1" dirty="0" smtClean="0">
                <a:latin typeface="Arial Narrow" panose="020B0606020202030204" pitchFamily="34" charset="0"/>
              </a:rPr>
              <a:t>Fault Classification Head</a:t>
            </a:r>
            <a:endParaRPr lang="ur-PK" sz="3200" b="1" dirty="0">
              <a:latin typeface="Arial Narrow" panose="020B0606020202030204" pitchFamily="34" charset="0"/>
            </a:endParaRPr>
          </a:p>
        </p:txBody>
      </p:sp>
      <p:sp>
        <p:nvSpPr>
          <p:cNvPr id="176" name="Rectangle 175"/>
          <p:cNvSpPr/>
          <p:nvPr/>
        </p:nvSpPr>
        <p:spPr>
          <a:xfrm>
            <a:off x="10730752" y="7330769"/>
            <a:ext cx="411901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3200" b="1" dirty="0" smtClean="0">
                <a:latin typeface="Arial Narrow" panose="020B0606020202030204" pitchFamily="34" charset="0"/>
              </a:rPr>
              <a:t>Feature Alignment Layer</a:t>
            </a:r>
            <a:endParaRPr lang="ur-PK" sz="3200" b="1" dirty="0">
              <a:latin typeface="Arial Narrow" panose="020B0606020202030204" pitchFamily="34" charset="0"/>
            </a:endParaRPr>
          </a:p>
        </p:txBody>
      </p:sp>
      <p:sp>
        <p:nvSpPr>
          <p:cNvPr id="3" name="Flowchart: Preparation 2"/>
          <p:cNvSpPr/>
          <p:nvPr/>
        </p:nvSpPr>
        <p:spPr>
          <a:xfrm>
            <a:off x="-8467335" y="4165842"/>
            <a:ext cx="3637044" cy="2982180"/>
          </a:xfrm>
          <a:prstGeom prst="flowChartPreparation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dirty="0">
                <a:solidFill>
                  <a:schemeClr val="tx1"/>
                </a:solidFill>
                <a:latin typeface="Arial Narrow" panose="020B0606020202030204" pitchFamily="34" charset="0"/>
              </a:rPr>
              <a:t>Explainable AI </a:t>
            </a:r>
            <a:endParaRPr lang="ur-PK" sz="36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77" name="Flowchart: Preparation 76"/>
          <p:cNvSpPr/>
          <p:nvPr/>
        </p:nvSpPr>
        <p:spPr>
          <a:xfrm>
            <a:off x="-8330575" y="7410894"/>
            <a:ext cx="3505200" cy="2982180"/>
          </a:xfrm>
          <a:prstGeom prst="flowChartPreparation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dirty="0">
                <a:solidFill>
                  <a:schemeClr val="tx1"/>
                </a:solidFill>
                <a:latin typeface="Arial Narrow" panose="020B0606020202030204" pitchFamily="34" charset="0"/>
              </a:rPr>
              <a:t>Ethical AI </a:t>
            </a:r>
            <a:endParaRPr lang="ur-PK" sz="3600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78" name="Flowchart: Preparation 77"/>
          <p:cNvSpPr/>
          <p:nvPr/>
        </p:nvSpPr>
        <p:spPr>
          <a:xfrm>
            <a:off x="-8651862" y="10743021"/>
            <a:ext cx="3838906" cy="2982180"/>
          </a:xfrm>
          <a:prstGeom prst="flowChartPreparation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>
                <a:solidFill>
                  <a:schemeClr val="tx1"/>
                </a:solidFill>
                <a:latin typeface="Arial Narrow" panose="020B0606020202030204" pitchFamily="34" charset="0"/>
              </a:rPr>
              <a:t>Edge &amp; Real-Time Constraints</a:t>
            </a:r>
            <a:endParaRPr lang="ur-PK" sz="360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 rot="5400000">
            <a:off x="14136039" y="6389813"/>
            <a:ext cx="3316934" cy="132343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8000" b="1" dirty="0" err="1">
                <a:latin typeface="Arial Narrow" panose="020B0606020202030204" pitchFamily="34" charset="0"/>
              </a:rPr>
              <a:t>FEMNet</a:t>
            </a:r>
            <a:endParaRPr lang="ur-PK" sz="8000" b="1" dirty="0"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26772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217</Words>
  <Application>Microsoft Office PowerPoint</Application>
  <PresentationFormat>Widescreen</PresentationFormat>
  <Paragraphs>64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Arial Narrow</vt:lpstr>
      <vt:lpstr>Calibri</vt:lpstr>
      <vt:lpstr>Calibri Light</vt:lpstr>
      <vt:lpstr>Times New Roman</vt:lpstr>
      <vt:lpstr>Office Theme</vt:lpstr>
      <vt:lpstr>PowerPoint Presentation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Moorche</dc:creator>
  <cp:lastModifiedBy>Moorche</cp:lastModifiedBy>
  <cp:revision>42</cp:revision>
  <dcterms:created xsi:type="dcterms:W3CDTF">2026-01-12T18:19:03Z</dcterms:created>
  <dcterms:modified xsi:type="dcterms:W3CDTF">2026-01-12T19:45:18Z</dcterms:modified>
</cp:coreProperties>
</file>