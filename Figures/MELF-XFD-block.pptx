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ur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ECFF"/>
    <a:srgbClr val="FF9999"/>
    <a:srgbClr val="0000FF"/>
    <a:srgbClr val="CC66FF"/>
    <a:srgbClr val="00CC99"/>
    <a:srgbClr val="FFCC99"/>
    <a:srgbClr val="FF6699"/>
    <a:srgbClr val="CC3399"/>
    <a:srgbClr val="6600FF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2" d="100"/>
          <a:sy n="22" d="100"/>
        </p:scale>
        <p:origin x="2995" y="13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542102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226648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1349320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315986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12409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127518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791615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39570586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r-P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230440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951000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074630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140C34-7896-4960-8449-41FCA172A4E6}" type="datetimeFigureOut">
              <a:rPr lang="ur-PK" smtClean="0"/>
              <a:t>02/08/1447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445197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r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405424" y="-1173786"/>
            <a:ext cx="6982344" cy="2926184"/>
          </a:xfrm>
          <a:prstGeom prst="roundRect">
            <a:avLst/>
          </a:prstGeom>
          <a:ln w="57150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1" anchor="ctr"/>
          <a:lstStyle/>
          <a:p>
            <a:pPr marL="400050" indent="-400050">
              <a:buFont typeface="+mj-lt"/>
              <a:buAutoNum type="romanLcPeriod"/>
            </a:pP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Read CSV rows as time-ordered samples</a:t>
            </a:r>
          </a:p>
          <a:p>
            <a:pPr marL="400050" indent="-400050">
              <a:buFont typeface="+mj-lt"/>
              <a:buAutoNum type="romanLcPeriod"/>
            </a:pP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Extract only the 16 signal columns</a:t>
            </a:r>
          </a:p>
          <a:p>
            <a:pPr marL="400050" indent="-400050">
              <a:buFont typeface="+mj-lt"/>
              <a:buAutoNum type="romanLcPeriod"/>
            </a:pP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Discard timestamp if present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-1206756" y="-1040576"/>
            <a:ext cx="1856510" cy="1006763"/>
          </a:xfrm>
          <a:prstGeom prst="rightArrow">
            <a:avLst/>
          </a:prstGeom>
          <a:noFill/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Raw .csv file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3802" y="-2138283"/>
            <a:ext cx="6490889" cy="844348"/>
          </a:xfrm>
          <a:prstGeom prst="roundRect">
            <a:avLst/>
          </a:prstGeom>
          <a:noFill/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4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CSV Loader &amp; Signal Parser</a:t>
            </a:r>
            <a:endParaRPr lang="ur-PK" sz="44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-8343779" y="-3250540"/>
            <a:ext cx="7322800" cy="990389"/>
          </a:xfrm>
          <a:prstGeom prst="roundRect">
            <a:avLst/>
          </a:prstGeom>
          <a:noFill/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4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AUV Fault Diagnosis Dataset</a:t>
            </a:r>
            <a:endParaRPr lang="ur-PK" sz="44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9" name="Flowchart: Multidocument 8"/>
          <p:cNvSpPr/>
          <p:nvPr/>
        </p:nvSpPr>
        <p:spPr>
          <a:xfrm>
            <a:off x="9377524" y="-1106080"/>
            <a:ext cx="2884012" cy="3012858"/>
          </a:xfrm>
          <a:prstGeom prst="flowChartMultidocument">
            <a:avLst/>
          </a:prstGeom>
          <a:ln w="57150"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Fixed-Length Window Generator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478063" y="-2432212"/>
            <a:ext cx="5793793" cy="900946"/>
          </a:xfrm>
          <a:prstGeom prst="roundRect">
            <a:avLst/>
          </a:prstGeom>
          <a:noFill/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4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Temporal Windowing (Preprocessing)</a:t>
            </a:r>
            <a:endParaRPr lang="ur-PK" sz="44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13" name="Straight Arrow Connector 12"/>
          <p:cNvCxnSpPr>
            <a:endCxn id="5" idx="1"/>
          </p:cNvCxnSpPr>
          <p:nvPr/>
        </p:nvCxnSpPr>
        <p:spPr>
          <a:xfrm flipV="1">
            <a:off x="-1206756" y="289306"/>
            <a:ext cx="1612180" cy="841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7399369" y="400349"/>
            <a:ext cx="2088044" cy="2969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81259" y="-917816"/>
            <a:ext cx="2047355" cy="646331"/>
          </a:xfrm>
          <a:prstGeom prst="rect">
            <a:avLst/>
          </a:prstGeom>
          <a:ln w="57150">
            <a:noFill/>
          </a:ln>
        </p:spPr>
        <p:txBody>
          <a:bodyPr wrap="none">
            <a:spAutoFit/>
          </a:bodyPr>
          <a:lstStyle/>
          <a:p>
            <a:r>
              <a:rPr lang="en-US" sz="3600" dirty="0" smtClean="0">
                <a:latin typeface="Arial Narrow" panose="020B0606020202030204" pitchFamily="34" charset="0"/>
              </a:rPr>
              <a:t>X∈R^T×16</a:t>
            </a:r>
            <a:endParaRPr lang="ur-PK" sz="3600" dirty="0">
              <a:latin typeface="Arial Narrow" panose="020B0606020202030204" pitchFamily="34" charset="0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13950689" y="-662903"/>
            <a:ext cx="3967476" cy="1833420"/>
          </a:xfrm>
          <a:prstGeom prst="ellipse">
            <a:avLst/>
          </a:prstGeom>
          <a:ln w="57150"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Channel-wise Normalization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146153" y="-2260151"/>
            <a:ext cx="7014567" cy="4676379"/>
          </a:xfrm>
          <a:prstGeom prst="roundRect">
            <a:avLst>
              <a:gd name="adj" fmla="val 16667"/>
            </a:avLst>
          </a:prstGeom>
          <a:ln w="57150">
            <a:solidFill>
              <a:schemeClr val="tx1"/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1" name="Rounded Rectangle 20"/>
          <p:cNvSpPr/>
          <p:nvPr/>
        </p:nvSpPr>
        <p:spPr>
          <a:xfrm>
            <a:off x="13922923" y="-1962420"/>
            <a:ext cx="3847040" cy="900946"/>
          </a:xfrm>
          <a:prstGeom prst="roundRect">
            <a:avLst/>
          </a:prstGeom>
          <a:noFill/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4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Feature Normalization</a:t>
            </a:r>
            <a:endParaRPr lang="ur-PK" sz="44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23" name="Straight Arrow Connector 22"/>
          <p:cNvCxnSpPr>
            <a:stCxn id="9" idx="3"/>
          </p:cNvCxnSpPr>
          <p:nvPr/>
        </p:nvCxnSpPr>
        <p:spPr>
          <a:xfrm>
            <a:off x="12261536" y="400349"/>
            <a:ext cx="1689153" cy="289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2307885" y="853294"/>
            <a:ext cx="2214068" cy="646331"/>
          </a:xfrm>
          <a:prstGeom prst="rect">
            <a:avLst/>
          </a:prstGeom>
          <a:ln w="57150">
            <a:noFill/>
          </a:ln>
        </p:spPr>
        <p:txBody>
          <a:bodyPr wrap="none">
            <a:spAutoFit/>
          </a:bodyPr>
          <a:lstStyle/>
          <a:p>
            <a:r>
              <a:rPr lang="en-US" sz="3600" dirty="0" smtClean="0">
                <a:latin typeface="Arial Narrow" panose="020B0606020202030204" pitchFamily="34" charset="0"/>
              </a:rPr>
              <a:t>Wi​∈R^L×16</a:t>
            </a:r>
            <a:endParaRPr lang="ur-PK" sz="3600" dirty="0">
              <a:latin typeface="Arial Narrow" panose="020B0606020202030204" pitchFamily="34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3058271" y="2924267"/>
            <a:ext cx="4639276" cy="398867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36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29" name="Rectangle 28"/>
          <p:cNvSpPr/>
          <p:nvPr/>
        </p:nvSpPr>
        <p:spPr>
          <a:xfrm rot="5400000">
            <a:off x="10175270" y="4378825"/>
            <a:ext cx="4496885" cy="1323439"/>
          </a:xfrm>
          <a:prstGeom prst="rect">
            <a:avLst/>
          </a:prstGeom>
          <a:ln w="5715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4000" b="1" dirty="0" smtClean="0">
                <a:solidFill>
                  <a:srgbClr val="0000FF"/>
                </a:solidFill>
                <a:latin typeface="Arial Narrow" panose="020B0606020202030204" pitchFamily="34" charset="0"/>
              </a:rPr>
              <a:t>Temporal Dynamics Expert (TED)</a:t>
            </a:r>
            <a:endParaRPr lang="ur-PK" sz="4000" b="1" dirty="0">
              <a:solidFill>
                <a:srgbClr val="0000FF"/>
              </a:solidFill>
              <a:latin typeface="Arial Narrow" panose="020B0606020202030204" pitchFamily="34" charset="0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4211029" y="3080048"/>
            <a:ext cx="2257352" cy="599089"/>
          </a:xfrm>
          <a:prstGeom prst="roundRect">
            <a:avLst/>
          </a:prstGeom>
          <a:solidFill>
            <a:srgbClr val="CCECFF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Conv1D 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13700015" y="3985160"/>
            <a:ext cx="3245018" cy="664147"/>
          </a:xfrm>
          <a:prstGeom prst="roundRect">
            <a:avLst/>
          </a:prstGeom>
          <a:solidFill>
            <a:srgbClr val="CCECFF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Bias addition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364221" y="4976724"/>
            <a:ext cx="3751447" cy="650744"/>
          </a:xfrm>
          <a:prstGeom prst="roundRect">
            <a:avLst/>
          </a:prstGeom>
          <a:solidFill>
            <a:srgbClr val="CCECFF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Nonlinear activation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13714188" y="5878850"/>
            <a:ext cx="3288278" cy="700982"/>
          </a:xfrm>
          <a:prstGeom prst="roundRect">
            <a:avLst/>
          </a:prstGeom>
          <a:solidFill>
            <a:srgbClr val="CCECFF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Temporal pooling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37" name="Elbow Connector 36"/>
          <p:cNvCxnSpPr>
            <a:stCxn id="20" idx="6"/>
            <a:endCxn id="26" idx="3"/>
          </p:cNvCxnSpPr>
          <p:nvPr/>
        </p:nvCxnSpPr>
        <p:spPr>
          <a:xfrm flipH="1">
            <a:off x="17697547" y="253807"/>
            <a:ext cx="220618" cy="4664798"/>
          </a:xfrm>
          <a:prstGeom prst="bentConnector3">
            <a:avLst>
              <a:gd name="adj1" fmla="val -103618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 rot="5400000">
            <a:off x="17482377" y="1090192"/>
            <a:ext cx="2173993" cy="646331"/>
          </a:xfrm>
          <a:prstGeom prst="rect">
            <a:avLst/>
          </a:prstGeom>
          <a:ln w="57150">
            <a:noFill/>
          </a:ln>
        </p:spPr>
        <p:txBody>
          <a:bodyPr wrap="none">
            <a:spAutoFit/>
          </a:bodyPr>
          <a:lstStyle/>
          <a:p>
            <a:r>
              <a:rPr lang="en-US" sz="3600" dirty="0" smtClean="0">
                <a:latin typeface="Arial Narrow" panose="020B0606020202030204" pitchFamily="34" charset="0"/>
              </a:rPr>
              <a:t>W~∈RL×16</a:t>
            </a:r>
            <a:endParaRPr lang="ur-PK" sz="3600" dirty="0">
              <a:latin typeface="Arial Narrow" panose="020B0606020202030204" pitchFamily="34" charset="0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5764271" y="2792102"/>
            <a:ext cx="5924369" cy="440244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36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1" name="Rectangle 40"/>
          <p:cNvSpPr/>
          <p:nvPr/>
        </p:nvSpPr>
        <p:spPr>
          <a:xfrm rot="5400000">
            <a:off x="2691966" y="5002392"/>
            <a:ext cx="4884347" cy="1323439"/>
          </a:xfrm>
          <a:prstGeom prst="rect">
            <a:avLst/>
          </a:prstGeom>
          <a:ln w="57150">
            <a:noFill/>
          </a:ln>
        </p:spPr>
        <p:txBody>
          <a:bodyPr wrap="square">
            <a:spAutoFit/>
          </a:bodyPr>
          <a:lstStyle/>
          <a:p>
            <a:r>
              <a:rPr lang="en-US" sz="4000" b="1" dirty="0" smtClean="0">
                <a:solidFill>
                  <a:srgbClr val="0000FF"/>
                </a:solidFill>
                <a:latin typeface="Arial Narrow" panose="020B0606020202030204" pitchFamily="34" charset="0"/>
              </a:rPr>
              <a:t>Frequency Domain Expert (FDE)</a:t>
            </a:r>
            <a:endParaRPr lang="ur-PK" sz="4000" b="1" dirty="0">
              <a:solidFill>
                <a:srgbClr val="0000FF"/>
              </a:solidFill>
              <a:latin typeface="Arial Narrow" panose="020B0606020202030204" pitchFamily="34" charset="0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207646" y="2925031"/>
            <a:ext cx="5037618" cy="112586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Discrete Fourier Transform </a:t>
            </a:r>
          </a:p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(per channel)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595228" y="4188528"/>
            <a:ext cx="3988791" cy="692501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Magnitude spectrum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57655" y="5001178"/>
            <a:ext cx="4496502" cy="106232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Feature projection </a:t>
            </a:r>
          </a:p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(dense or </a:t>
            </a:r>
            <a:r>
              <a:rPr lang="en-US" sz="36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conv</a:t>
            </a: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)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-963202" y="2866273"/>
            <a:ext cx="5467211" cy="425235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36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7" name="Rectangle 46"/>
          <p:cNvSpPr/>
          <p:nvPr/>
        </p:nvSpPr>
        <p:spPr>
          <a:xfrm rot="5400000">
            <a:off x="-3949111" y="4312531"/>
            <a:ext cx="4465018" cy="1323439"/>
          </a:xfrm>
          <a:prstGeom prst="rect">
            <a:avLst/>
          </a:prstGeom>
          <a:ln w="5715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4000" b="1" dirty="0" smtClean="0">
                <a:solidFill>
                  <a:srgbClr val="0000FF"/>
                </a:solidFill>
                <a:latin typeface="Arial Narrow" panose="020B0606020202030204" pitchFamily="34" charset="0"/>
              </a:rPr>
              <a:t>Statistical Behavior Expert (SBE)</a:t>
            </a:r>
            <a:endParaRPr lang="ur-PK" sz="4000" b="1" dirty="0">
              <a:solidFill>
                <a:srgbClr val="0000FF"/>
              </a:solidFill>
              <a:latin typeface="Arial Narrow" panose="020B0606020202030204" pitchFamily="34" charset="0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9846" y="3131928"/>
            <a:ext cx="3457986" cy="59908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Global Pooling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-764466" y="3865438"/>
            <a:ext cx="4961928" cy="219811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For each channel:</a:t>
            </a:r>
          </a:p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</a:t>
            </a:r>
            <a:r>
              <a:rPr lang="en-US" sz="36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i</a:t>
            </a: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)Mean </a:t>
            </a:r>
          </a:p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(ii) Variance</a:t>
            </a:r>
          </a:p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 (iii)Kurtosis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-295279" y="6230175"/>
            <a:ext cx="3584686" cy="59908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  <a:latin typeface="Arial Narrow" panose="020B0606020202030204" pitchFamily="34" charset="0"/>
              </a:rPr>
              <a:t>C</a:t>
            </a: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oncatenation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53" name="Elbow Connector 52"/>
          <p:cNvCxnSpPr>
            <a:stCxn id="20" idx="4"/>
            <a:endCxn id="40" idx="0"/>
          </p:cNvCxnSpPr>
          <p:nvPr/>
        </p:nvCxnSpPr>
        <p:spPr>
          <a:xfrm rot="5400000">
            <a:off x="11519650" y="-1622676"/>
            <a:ext cx="1621585" cy="7207971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/>
          <p:cNvCxnSpPr>
            <a:stCxn id="20" idx="3"/>
            <a:endCxn id="46" idx="0"/>
          </p:cNvCxnSpPr>
          <p:nvPr/>
        </p:nvCxnSpPr>
        <p:spPr>
          <a:xfrm rot="5400000">
            <a:off x="7168931" y="-4496508"/>
            <a:ext cx="1964254" cy="12761308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5934773" y="1130017"/>
            <a:ext cx="2173993" cy="646331"/>
          </a:xfrm>
          <a:prstGeom prst="rect">
            <a:avLst/>
          </a:prstGeom>
          <a:ln w="57150">
            <a:noFill/>
          </a:ln>
        </p:spPr>
        <p:txBody>
          <a:bodyPr wrap="none">
            <a:spAutoFit/>
          </a:bodyPr>
          <a:lstStyle/>
          <a:p>
            <a:r>
              <a:rPr lang="en-US" sz="3600" dirty="0" smtClean="0">
                <a:latin typeface="Arial Narrow" panose="020B0606020202030204" pitchFamily="34" charset="0"/>
              </a:rPr>
              <a:t>W~∈RL×16</a:t>
            </a:r>
            <a:endParaRPr lang="ur-PK" sz="3600" dirty="0">
              <a:latin typeface="Arial Narrow" panose="020B0606020202030204" pitchFamily="34" charset="0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6924784" y="6194672"/>
            <a:ext cx="3394816" cy="84969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Feature Mapping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1072314" y="8069662"/>
            <a:ext cx="14564709" cy="1052503"/>
          </a:xfrm>
          <a:prstGeom prst="roundRect">
            <a:avLst/>
          </a:prstGeom>
          <a:solidFill>
            <a:srgbClr val="00CC99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36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1794487" y="8211604"/>
            <a:ext cx="4467485" cy="77225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Channel alignment</a:t>
            </a:r>
            <a:endParaRPr lang="ur-PK" sz="4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10119828" y="8186613"/>
            <a:ext cx="4091201" cy="78655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  <a:latin typeface="Arial Narrow" panose="020B0606020202030204" pitchFamily="34" charset="0"/>
              </a:rPr>
              <a:t>P</a:t>
            </a:r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rojection layer</a:t>
            </a:r>
          </a:p>
        </p:txBody>
      </p:sp>
      <p:cxnSp>
        <p:nvCxnSpPr>
          <p:cNvPr id="68" name="Elbow Connector 67"/>
          <p:cNvCxnSpPr/>
          <p:nvPr/>
        </p:nvCxnSpPr>
        <p:spPr>
          <a:xfrm rot="16200000" flipH="1">
            <a:off x="4587018" y="4302010"/>
            <a:ext cx="951038" cy="6584265"/>
          </a:xfrm>
          <a:prstGeom prst="bentConnector3">
            <a:avLst>
              <a:gd name="adj1" fmla="val 67711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/>
          <p:cNvCxnSpPr/>
          <p:nvPr/>
        </p:nvCxnSpPr>
        <p:spPr>
          <a:xfrm rot="5400000">
            <a:off x="11287930" y="3979683"/>
            <a:ext cx="1156719" cy="7023240"/>
          </a:xfrm>
          <a:prstGeom prst="bentConnector3">
            <a:avLst>
              <a:gd name="adj1" fmla="val 74964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682296" y="11045841"/>
            <a:ext cx="11050141" cy="233332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57150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ur-PK" sz="36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88" name="Down Arrow Callout 87"/>
          <p:cNvSpPr/>
          <p:nvPr/>
        </p:nvSpPr>
        <p:spPr>
          <a:xfrm>
            <a:off x="3121056" y="9553137"/>
            <a:ext cx="10561320" cy="1801580"/>
          </a:xfrm>
          <a:prstGeom prst="downArrowCallout">
            <a:avLst/>
          </a:prstGeom>
          <a:solidFill>
            <a:srgbClr val="FF9999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Attention-weighted feature fusion</a:t>
            </a:r>
          </a:p>
          <a:p>
            <a:pPr algn="ctr"/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Z=</a:t>
            </a:r>
            <a:r>
              <a:rPr lang="el-GR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t​</a:t>
            </a:r>
            <a:r>
              <a:rPr lang="en-US" sz="40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Zt</a:t>
            </a:r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​+</a:t>
            </a:r>
            <a:r>
              <a:rPr lang="el-GR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f​</a:t>
            </a:r>
            <a:r>
              <a:rPr lang="en-US" sz="40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Zf</a:t>
            </a:r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​+</a:t>
            </a:r>
            <a:r>
              <a:rPr lang="el-GR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s​</a:t>
            </a:r>
            <a:r>
              <a:rPr lang="en-US" sz="40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Zs</a:t>
            </a:r>
            <a:r>
              <a:rPr lang="en-US" sz="40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​</a:t>
            </a:r>
            <a:endParaRPr lang="ur-PK" sz="4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92" name="Elbow Connector 91"/>
          <p:cNvCxnSpPr>
            <a:stCxn id="62" idx="2"/>
            <a:endCxn id="88" idx="0"/>
          </p:cNvCxnSpPr>
          <p:nvPr/>
        </p:nvCxnSpPr>
        <p:spPr>
          <a:xfrm rot="16200000" flipH="1">
            <a:off x="8162706" y="9314127"/>
            <a:ext cx="430972" cy="47047"/>
          </a:xfrm>
          <a:prstGeom prst="bentConnector3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/>
          <p:cNvCxnSpPr>
            <a:stCxn id="62" idx="1"/>
            <a:endCxn id="88" idx="1"/>
          </p:cNvCxnSpPr>
          <p:nvPr/>
        </p:nvCxnSpPr>
        <p:spPr>
          <a:xfrm rot="10800000" flipH="1" flipV="1">
            <a:off x="1072314" y="8595913"/>
            <a:ext cx="2048742" cy="1542529"/>
          </a:xfrm>
          <a:prstGeom prst="bentConnector3">
            <a:avLst>
              <a:gd name="adj1" fmla="val -11158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62" idx="3"/>
            <a:endCxn id="88" idx="3"/>
          </p:cNvCxnSpPr>
          <p:nvPr/>
        </p:nvCxnSpPr>
        <p:spPr>
          <a:xfrm flipH="1">
            <a:off x="13682376" y="8595914"/>
            <a:ext cx="1954647" cy="1542529"/>
          </a:xfrm>
          <a:prstGeom prst="bentConnector3">
            <a:avLst>
              <a:gd name="adj1" fmla="val -33854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Chevron 97"/>
          <p:cNvSpPr/>
          <p:nvPr/>
        </p:nvSpPr>
        <p:spPr>
          <a:xfrm>
            <a:off x="2902490" y="11478705"/>
            <a:ext cx="3879838" cy="1667435"/>
          </a:xfrm>
          <a:prstGeom prst="chevron">
            <a:avLst/>
          </a:prstGeom>
          <a:solidFill>
            <a:srgbClr val="CCECFF"/>
          </a:solidFill>
          <a:ln w="57150">
            <a:solidFill>
              <a:srgbClr val="CCE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Fully Connected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99" name="Chevron 98"/>
          <p:cNvSpPr/>
          <p:nvPr/>
        </p:nvSpPr>
        <p:spPr>
          <a:xfrm>
            <a:off x="6377544" y="11507588"/>
            <a:ext cx="3879838" cy="1667435"/>
          </a:xfrm>
          <a:prstGeom prst="chevron">
            <a:avLst/>
          </a:prstGeom>
          <a:solidFill>
            <a:srgbClr val="FF6699"/>
          </a:solidFill>
          <a:ln w="57150">
            <a:solidFill>
              <a:srgbClr val="FF66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Softmax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-1547621" y="14002780"/>
            <a:ext cx="2573382" cy="73610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Normal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582500" y="14002781"/>
            <a:ext cx="2573382" cy="736109"/>
          </a:xfrm>
          <a:prstGeom prst="roundRect">
            <a:avLst/>
          </a:prstGeom>
          <a:solidFill>
            <a:srgbClr val="C00000"/>
          </a:solidFill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Add </a:t>
            </a:r>
            <a:r>
              <a:rPr lang="en-US" sz="3600" dirty="0">
                <a:solidFill>
                  <a:schemeClr val="tx1"/>
                </a:solidFill>
                <a:latin typeface="Arial Narrow" panose="020B0606020202030204" pitchFamily="34" charset="0"/>
              </a:rPr>
              <a:t>w</a:t>
            </a: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eight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785327" y="13944300"/>
            <a:ext cx="4398406" cy="78781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Pressure gain constant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9643475" y="14016867"/>
            <a:ext cx="4592372" cy="639869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Propeller damage slight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3833708" y="13190006"/>
            <a:ext cx="4001425" cy="601165"/>
          </a:xfrm>
          <a:prstGeom prst="roundRect">
            <a:avLst/>
          </a:prstGeom>
          <a:solidFill>
            <a:srgbClr val="CCECFF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Propeller damage bad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114" name="Elbow Connector 113"/>
          <p:cNvCxnSpPr>
            <a:stCxn id="105" idx="1"/>
            <a:endCxn id="106" idx="0"/>
          </p:cNvCxnSpPr>
          <p:nvPr/>
        </p:nvCxnSpPr>
        <p:spPr>
          <a:xfrm rot="10800000" flipV="1">
            <a:off x="-260930" y="12212502"/>
            <a:ext cx="2943226" cy="1790278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/>
          <p:cNvCxnSpPr>
            <a:stCxn id="105" idx="3"/>
            <a:endCxn id="110" idx="0"/>
          </p:cNvCxnSpPr>
          <p:nvPr/>
        </p:nvCxnSpPr>
        <p:spPr>
          <a:xfrm>
            <a:off x="13732437" y="12212502"/>
            <a:ext cx="2101984" cy="977504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-5255403" y="2540216"/>
            <a:ext cx="23650980" cy="12339566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36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118" name="Elbow Connector 117"/>
          <p:cNvCxnSpPr>
            <a:stCxn id="105" idx="2"/>
            <a:endCxn id="107" idx="0"/>
          </p:cNvCxnSpPr>
          <p:nvPr/>
        </p:nvCxnSpPr>
        <p:spPr>
          <a:xfrm rot="5400000">
            <a:off x="5226470" y="11021883"/>
            <a:ext cx="623619" cy="5338176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Elbow Connector 125"/>
          <p:cNvCxnSpPr>
            <a:stCxn id="105" idx="2"/>
            <a:endCxn id="109" idx="0"/>
          </p:cNvCxnSpPr>
          <p:nvPr/>
        </p:nvCxnSpPr>
        <p:spPr>
          <a:xfrm rot="16200000" flipH="1">
            <a:off x="9754662" y="11831867"/>
            <a:ext cx="637705" cy="3732294"/>
          </a:xfrm>
          <a:prstGeom prst="bentConnector3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127"/>
          <p:cNvCxnSpPr>
            <a:stCxn id="105" idx="2"/>
            <a:endCxn id="108" idx="0"/>
          </p:cNvCxnSpPr>
          <p:nvPr/>
        </p:nvCxnSpPr>
        <p:spPr>
          <a:xfrm rot="5400000">
            <a:off x="7313380" y="13050313"/>
            <a:ext cx="565138" cy="122283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Striped Right Arrow 131"/>
          <p:cNvSpPr/>
          <p:nvPr/>
        </p:nvSpPr>
        <p:spPr>
          <a:xfrm rot="18614291" flipH="1">
            <a:off x="-5699930" y="6805153"/>
            <a:ext cx="4109850" cy="2415687"/>
          </a:xfrm>
          <a:prstGeom prst="stripedRightArrow">
            <a:avLst/>
          </a:prstGeom>
          <a:ln w="571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Predicted class</a:t>
            </a:r>
          </a:p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𝑦^	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3" name="Striped Right Arrow 132"/>
          <p:cNvSpPr/>
          <p:nvPr/>
        </p:nvSpPr>
        <p:spPr>
          <a:xfrm rot="18694310" flipH="1">
            <a:off x="-5276095" y="9093383"/>
            <a:ext cx="4436570" cy="2415687"/>
          </a:xfrm>
          <a:prstGeom prst="stripedRightArrow">
            <a:avLst/>
          </a:prstGeom>
          <a:ln w="571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Class probabilities</a:t>
            </a:r>
          </a:p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p(</a:t>
            </a:r>
            <a:r>
              <a:rPr lang="en-US" sz="36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c∣Z</a:t>
            </a: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)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4" name="Striped Right Arrow 133"/>
          <p:cNvSpPr/>
          <p:nvPr/>
        </p:nvSpPr>
        <p:spPr>
          <a:xfrm rot="18629223" flipH="1">
            <a:off x="-4385417" y="11387829"/>
            <a:ext cx="4169924" cy="2415687"/>
          </a:xfrm>
          <a:prstGeom prst="stripedRightArrow">
            <a:avLst/>
          </a:prstGeom>
          <a:ln w="571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Expert weights</a:t>
            </a:r>
          </a:p>
          <a:p>
            <a:pPr algn="ctr"/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</a:t>
            </a:r>
            <a:r>
              <a:rPr lang="el-GR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t,</a:t>
            </a:r>
            <a:r>
              <a:rPr lang="el-GR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f,</a:t>
            </a:r>
            <a:r>
              <a:rPr lang="el-GR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36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s)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1970956" y="7136409"/>
            <a:ext cx="1290738" cy="646331"/>
          </a:xfrm>
          <a:prstGeom prst="rect">
            <a:avLst/>
          </a:prstGeom>
          <a:ln w="57150">
            <a:noFill/>
          </a:ln>
        </p:spPr>
        <p:txBody>
          <a:bodyPr wrap="none">
            <a:spAutoFit/>
          </a:bodyPr>
          <a:lstStyle/>
          <a:p>
            <a:r>
              <a:rPr lang="en-US" sz="3600" dirty="0" err="1" smtClean="0">
                <a:latin typeface="Arial Narrow" panose="020B0606020202030204" pitchFamily="34" charset="0"/>
              </a:rPr>
              <a:t>Zt</a:t>
            </a:r>
            <a:r>
              <a:rPr lang="en-US" sz="3600" dirty="0" smtClean="0">
                <a:latin typeface="Arial Narrow" panose="020B0606020202030204" pitchFamily="34" charset="0"/>
              </a:rPr>
              <a:t>​∈Rd</a:t>
            </a:r>
            <a:endParaRPr lang="ur-PK" sz="3600" dirty="0">
              <a:latin typeface="Arial Narrow" panose="020B0606020202030204" pitchFamily="34" charset="0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7756347" y="7136409"/>
            <a:ext cx="1290738" cy="646331"/>
          </a:xfrm>
          <a:prstGeom prst="rect">
            <a:avLst/>
          </a:prstGeom>
          <a:ln w="57150">
            <a:noFill/>
          </a:ln>
        </p:spPr>
        <p:txBody>
          <a:bodyPr wrap="none">
            <a:spAutoFit/>
          </a:bodyPr>
          <a:lstStyle/>
          <a:p>
            <a:r>
              <a:rPr lang="en-US" sz="3600" dirty="0" err="1" smtClean="0">
                <a:latin typeface="Arial Narrow" panose="020B0606020202030204" pitchFamily="34" charset="0"/>
              </a:rPr>
              <a:t>Zf</a:t>
            </a:r>
            <a:r>
              <a:rPr lang="en-US" sz="3600" dirty="0" smtClean="0">
                <a:latin typeface="Arial Narrow" panose="020B0606020202030204" pitchFamily="34" charset="0"/>
              </a:rPr>
              <a:t>​∈Rd</a:t>
            </a:r>
            <a:endParaRPr lang="ur-PK" sz="3600" dirty="0">
              <a:latin typeface="Arial Narrow" panose="020B0606020202030204" pitchFamily="34" charset="0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13884855" y="7145331"/>
            <a:ext cx="1374094" cy="646331"/>
          </a:xfrm>
          <a:prstGeom prst="rect">
            <a:avLst/>
          </a:prstGeom>
          <a:ln w="57150">
            <a:noFill/>
          </a:ln>
        </p:spPr>
        <p:txBody>
          <a:bodyPr wrap="none">
            <a:spAutoFit/>
          </a:bodyPr>
          <a:lstStyle/>
          <a:p>
            <a:r>
              <a:rPr lang="en-US" sz="3600" dirty="0" err="1" smtClean="0">
                <a:latin typeface="Arial Narrow" panose="020B0606020202030204" pitchFamily="34" charset="0"/>
              </a:rPr>
              <a:t>Zs</a:t>
            </a:r>
            <a:r>
              <a:rPr lang="en-US" sz="3600" dirty="0" smtClean="0">
                <a:latin typeface="Arial Narrow" panose="020B0606020202030204" pitchFamily="34" charset="0"/>
              </a:rPr>
              <a:t>​∈Rd</a:t>
            </a:r>
            <a:endParaRPr lang="ur-PK" sz="3600" dirty="0">
              <a:latin typeface="Arial Narrow" panose="020B0606020202030204" pitchFamily="34" charset="0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13821212" y="9493887"/>
            <a:ext cx="2837463" cy="1200329"/>
          </a:xfrm>
          <a:prstGeom prst="rect">
            <a:avLst/>
          </a:prstGeom>
          <a:ln w="57150">
            <a:noFill/>
          </a:ln>
        </p:spPr>
        <p:txBody>
          <a:bodyPr wrap="square">
            <a:spAutoFit/>
          </a:bodyPr>
          <a:lstStyle/>
          <a:p>
            <a:r>
              <a:rPr lang="en-US" sz="3600" dirty="0" smtClean="0">
                <a:latin typeface="Arial Narrow" panose="020B0606020202030204" pitchFamily="34" charset="0"/>
              </a:rPr>
              <a:t>Fused feature vector Z</a:t>
            </a:r>
            <a:endParaRPr lang="ur-PK" sz="3600" dirty="0">
              <a:latin typeface="Arial Narrow" panose="020B0606020202030204" pitchFamily="34" charset="0"/>
            </a:endParaRPr>
          </a:p>
        </p:txBody>
      </p:sp>
      <p:sp>
        <p:nvSpPr>
          <p:cNvPr id="174" name="Rectangle 173"/>
          <p:cNvSpPr/>
          <p:nvPr/>
        </p:nvSpPr>
        <p:spPr>
          <a:xfrm rot="19513208">
            <a:off x="-2217465" y="8699404"/>
            <a:ext cx="3976923" cy="1323439"/>
          </a:xfrm>
          <a:prstGeom prst="rect">
            <a:avLst/>
          </a:prstGeom>
          <a:ln w="5715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4000" b="1" dirty="0" smtClean="0">
                <a:latin typeface="Arial Narrow" panose="020B0606020202030204" pitchFamily="34" charset="0"/>
              </a:rPr>
              <a:t>Expert Fusion Module</a:t>
            </a:r>
            <a:endParaRPr lang="ur-PK" sz="4000" b="1" dirty="0">
              <a:latin typeface="Arial Narrow" panose="020B0606020202030204" pitchFamily="34" charset="0"/>
            </a:endParaRPr>
          </a:p>
        </p:txBody>
      </p:sp>
      <p:sp>
        <p:nvSpPr>
          <p:cNvPr id="175" name="Rectangle 174"/>
          <p:cNvSpPr/>
          <p:nvPr/>
        </p:nvSpPr>
        <p:spPr>
          <a:xfrm rot="2558676">
            <a:off x="15280565" y="10919584"/>
            <a:ext cx="3435592" cy="1938992"/>
          </a:xfrm>
          <a:prstGeom prst="rect">
            <a:avLst/>
          </a:prstGeom>
          <a:ln w="5715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4000" b="1" dirty="0" smtClean="0">
                <a:latin typeface="Arial Narrow" panose="020B0606020202030204" pitchFamily="34" charset="0"/>
              </a:rPr>
              <a:t>Fault Classification Head</a:t>
            </a:r>
            <a:endParaRPr lang="ur-PK" sz="4000" b="1" dirty="0">
              <a:latin typeface="Arial Narrow" panose="020B0606020202030204" pitchFamily="34" charset="0"/>
            </a:endParaRPr>
          </a:p>
        </p:txBody>
      </p:sp>
      <p:sp>
        <p:nvSpPr>
          <p:cNvPr id="176" name="Rectangle 175"/>
          <p:cNvSpPr/>
          <p:nvPr/>
        </p:nvSpPr>
        <p:spPr>
          <a:xfrm rot="1862064">
            <a:off x="15925395" y="7283441"/>
            <a:ext cx="2664803" cy="1938992"/>
          </a:xfrm>
          <a:prstGeom prst="rect">
            <a:avLst/>
          </a:prstGeom>
          <a:ln w="5715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4000" b="1" dirty="0" smtClean="0">
                <a:latin typeface="Arial Narrow" panose="020B0606020202030204" pitchFamily="34" charset="0"/>
              </a:rPr>
              <a:t>Feature Alignment Layer</a:t>
            </a:r>
            <a:endParaRPr lang="ur-PK" sz="4000" b="1" dirty="0">
              <a:latin typeface="Arial Narrow" panose="020B0606020202030204" pitchFamily="34" charset="0"/>
            </a:endParaRPr>
          </a:p>
        </p:txBody>
      </p:sp>
      <p:sp>
        <p:nvSpPr>
          <p:cNvPr id="3" name="Flowchart: Preparation 2"/>
          <p:cNvSpPr/>
          <p:nvPr/>
        </p:nvSpPr>
        <p:spPr>
          <a:xfrm>
            <a:off x="-10001844" y="3013905"/>
            <a:ext cx="4706040" cy="3443086"/>
          </a:xfrm>
          <a:prstGeom prst="flowChartPreparation">
            <a:avLst/>
          </a:prstGeom>
          <a:solidFill>
            <a:schemeClr val="accent4">
              <a:lumMod val="20000"/>
              <a:lumOff val="80000"/>
            </a:schemeClr>
          </a:solidFill>
          <a:ln w="57150"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400" b="1" dirty="0">
                <a:solidFill>
                  <a:schemeClr val="tx1"/>
                </a:solidFill>
                <a:latin typeface="Arial Narrow" panose="020B0606020202030204" pitchFamily="34" charset="0"/>
              </a:rPr>
              <a:t>Explainable AI </a:t>
            </a:r>
            <a:endParaRPr lang="ur-PK" sz="44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77" name="Flowchart: Preparation 76"/>
          <p:cNvSpPr/>
          <p:nvPr/>
        </p:nvSpPr>
        <p:spPr>
          <a:xfrm>
            <a:off x="-9600380" y="6735294"/>
            <a:ext cx="4073126" cy="2962260"/>
          </a:xfrm>
          <a:prstGeom prst="flowChartPreparation">
            <a:avLst/>
          </a:prstGeom>
          <a:solidFill>
            <a:schemeClr val="accent6">
              <a:lumMod val="20000"/>
              <a:lumOff val="80000"/>
            </a:schemeClr>
          </a:solidFill>
          <a:ln w="57150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400" b="1" dirty="0">
                <a:solidFill>
                  <a:schemeClr val="tx1"/>
                </a:solidFill>
                <a:latin typeface="Arial Narrow" panose="020B0606020202030204" pitchFamily="34" charset="0"/>
              </a:rPr>
              <a:t>Ethical </a:t>
            </a:r>
            <a:endParaRPr lang="en-US" sz="4400" b="1" dirty="0" smtClean="0">
              <a:solidFill>
                <a:schemeClr val="tx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en-US" sz="44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AI </a:t>
            </a:r>
            <a:endParaRPr lang="ur-PK" sz="44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78" name="Flowchart: Preparation 77"/>
          <p:cNvSpPr/>
          <p:nvPr/>
        </p:nvSpPr>
        <p:spPr>
          <a:xfrm>
            <a:off x="-10097869" y="10015185"/>
            <a:ext cx="4655630" cy="3293781"/>
          </a:xfrm>
          <a:prstGeom prst="flowChartPreparation">
            <a:avLst/>
          </a:prstGeom>
          <a:solidFill>
            <a:schemeClr val="accent2">
              <a:lumMod val="20000"/>
              <a:lumOff val="80000"/>
            </a:schemeClr>
          </a:solidFill>
          <a:ln w="5715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400" b="1" dirty="0">
                <a:solidFill>
                  <a:schemeClr val="tx1"/>
                </a:solidFill>
                <a:latin typeface="Arial Narrow" panose="020B0606020202030204" pitchFamily="34" charset="0"/>
              </a:rPr>
              <a:t>Edge &amp; Real-Time Constraints</a:t>
            </a:r>
            <a:endParaRPr lang="ur-PK" sz="44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 rot="5400000">
            <a:off x="17496539" y="7126403"/>
            <a:ext cx="3002745" cy="1200329"/>
          </a:xfrm>
          <a:prstGeom prst="rect">
            <a:avLst/>
          </a:prstGeom>
          <a:ln w="57150">
            <a:noFill/>
          </a:ln>
        </p:spPr>
        <p:txBody>
          <a:bodyPr wrap="square">
            <a:spAutoFit/>
          </a:bodyPr>
          <a:lstStyle/>
          <a:p>
            <a:r>
              <a:rPr lang="en-US" sz="7200" b="1" dirty="0" err="1">
                <a:solidFill>
                  <a:srgbClr val="C00000"/>
                </a:solidFill>
                <a:latin typeface="Arial Narrow" panose="020B0606020202030204" pitchFamily="34" charset="0"/>
              </a:rPr>
              <a:t>FEMNet</a:t>
            </a:r>
            <a:endParaRPr lang="ur-PK" sz="7200" b="1" dirty="0">
              <a:solidFill>
                <a:srgbClr val="C0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11" name="Chevron 110"/>
          <p:cNvSpPr/>
          <p:nvPr/>
        </p:nvSpPr>
        <p:spPr>
          <a:xfrm>
            <a:off x="9802538" y="11458238"/>
            <a:ext cx="3879838" cy="1667435"/>
          </a:xfrm>
          <a:prstGeom prst="chevron">
            <a:avLst/>
          </a:prstGeom>
          <a:solidFill>
            <a:schemeClr val="accent2">
              <a:lumMod val="60000"/>
              <a:lumOff val="4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  <a:latin typeface="Arial Narrow" panose="020B0606020202030204" pitchFamily="34" charset="0"/>
              </a:rPr>
              <a:t>p(</a:t>
            </a:r>
            <a:r>
              <a:rPr lang="en-US" sz="3600" dirty="0" err="1">
                <a:solidFill>
                  <a:schemeClr val="tx1"/>
                </a:solidFill>
                <a:latin typeface="Arial Narrow" panose="020B0606020202030204" pitchFamily="34" charset="0"/>
              </a:rPr>
              <a:t>c∣Z</a:t>
            </a:r>
            <a:r>
              <a:rPr lang="en-US" sz="3600" dirty="0">
                <a:solidFill>
                  <a:schemeClr val="tx1"/>
                </a:solidFill>
                <a:latin typeface="Arial Narrow" panose="020B0606020202030204" pitchFamily="34" charset="0"/>
              </a:rPr>
              <a:t>)</a:t>
            </a:r>
          </a:p>
          <a:p>
            <a:pPr algn="ctr"/>
            <a:r>
              <a:rPr lang="en-US" sz="3600" dirty="0">
                <a:solidFill>
                  <a:schemeClr val="tx1"/>
                </a:solidFill>
                <a:latin typeface="Arial Narrow" panose="020B0606020202030204" pitchFamily="34" charset="0"/>
              </a:rPr>
              <a:t>,c∈{1,…,5}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2677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53" t="8308" b="74652"/>
          <a:stretch/>
        </p:blipFill>
        <p:spPr>
          <a:xfrm>
            <a:off x="-240147" y="1139392"/>
            <a:ext cx="6797963" cy="1012485"/>
          </a:xfrm>
        </p:spPr>
      </p:pic>
      <p:sp>
        <p:nvSpPr>
          <p:cNvPr id="6" name="Rectangle 5"/>
          <p:cNvSpPr/>
          <p:nvPr/>
        </p:nvSpPr>
        <p:spPr>
          <a:xfrm rot="16200000">
            <a:off x="-1277935" y="1321154"/>
            <a:ext cx="1549103" cy="5264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</a:t>
            </a:r>
            <a:r>
              <a:rPr lang="en-US" b="1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i</a:t>
            </a:r>
            <a:r>
              <a:rPr lang="en-US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) Add weight </a:t>
            </a:r>
            <a:endParaRPr lang="ur-PK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 rot="16200000">
            <a:off x="6046501" y="1321153"/>
            <a:ext cx="1549103" cy="5264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(ii) Normal</a:t>
            </a:r>
            <a:endParaRPr lang="ur-PK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7" t="25993" b="56903"/>
          <a:stretch/>
        </p:blipFill>
        <p:spPr>
          <a:xfrm>
            <a:off x="7084289" y="1174675"/>
            <a:ext cx="6413813" cy="95502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0" t="43232" b="39663"/>
          <a:stretch/>
        </p:blipFill>
        <p:spPr>
          <a:xfrm>
            <a:off x="7193384" y="3934073"/>
            <a:ext cx="6376867" cy="9550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588783" y="2598869"/>
            <a:ext cx="1902691" cy="4286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 Narrow" panose="020B0606020202030204" pitchFamily="34" charset="0"/>
              </a:rPr>
              <a:t>(</a:t>
            </a:r>
            <a:r>
              <a:rPr lang="en-US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ii) </a:t>
            </a:r>
            <a:r>
              <a:rPr lang="en-US" b="1" dirty="0">
                <a:solidFill>
                  <a:schemeClr val="tx1"/>
                </a:solidFill>
                <a:latin typeface="Arial Narrow" panose="020B0606020202030204" pitchFamily="34" charset="0"/>
              </a:rPr>
              <a:t>Propeller damage slight</a:t>
            </a:r>
            <a:endParaRPr lang="ur-PK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41" t="61145" b="22828"/>
          <a:stretch/>
        </p:blipFill>
        <p:spPr>
          <a:xfrm>
            <a:off x="-277145" y="3941653"/>
            <a:ext cx="6741995" cy="94885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 rot="16200000">
            <a:off x="-1427193" y="4113059"/>
            <a:ext cx="1549103" cy="5264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(iv) Propeller damage bad</a:t>
            </a:r>
            <a:endParaRPr lang="ur-PK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 rot="16200000">
            <a:off x="6065797" y="4379017"/>
            <a:ext cx="1549103" cy="5264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(v) Pressure gain constant</a:t>
            </a:r>
            <a:endParaRPr lang="ur-PK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9" t="78350"/>
          <a:stretch/>
        </p:blipFill>
        <p:spPr>
          <a:xfrm>
            <a:off x="3491474" y="2382981"/>
            <a:ext cx="6350872" cy="1208807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9" t="93891"/>
          <a:stretch/>
        </p:blipFill>
        <p:spPr>
          <a:xfrm>
            <a:off x="-189090" y="2075181"/>
            <a:ext cx="6746906" cy="341112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9" t="93891"/>
          <a:stretch/>
        </p:blipFill>
        <p:spPr>
          <a:xfrm>
            <a:off x="7192283" y="2041869"/>
            <a:ext cx="6197823" cy="341112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9" t="93891"/>
          <a:stretch/>
        </p:blipFill>
        <p:spPr>
          <a:xfrm>
            <a:off x="-240147" y="4860822"/>
            <a:ext cx="6612667" cy="341112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9" t="93891"/>
          <a:stretch/>
        </p:blipFill>
        <p:spPr>
          <a:xfrm>
            <a:off x="7262046" y="4841968"/>
            <a:ext cx="6289351" cy="341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333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244</Words>
  <Application>Microsoft Office PowerPoint</Application>
  <PresentationFormat>Widescreen</PresentationFormat>
  <Paragraphs>69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Arial Narrow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Moorche</dc:creator>
  <cp:lastModifiedBy>Moorche</cp:lastModifiedBy>
  <cp:revision>63</cp:revision>
  <dcterms:created xsi:type="dcterms:W3CDTF">2026-01-12T18:19:03Z</dcterms:created>
  <dcterms:modified xsi:type="dcterms:W3CDTF">2026-01-20T11:27:58Z</dcterms:modified>
</cp:coreProperties>
</file>