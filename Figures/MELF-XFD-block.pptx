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ur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CC66FF"/>
    <a:srgbClr val="FFCC99"/>
    <a:srgbClr val="FF6699"/>
    <a:srgbClr val="CC3399"/>
    <a:srgbClr val="6600FF"/>
    <a:srgbClr val="00CC99"/>
    <a:srgbClr val="FF99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" d="100"/>
          <a:sy n="20" d="100"/>
        </p:scale>
        <p:origin x="3058" y="14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54210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22664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34932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15986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2409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2751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791615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95705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r-P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230440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95100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07463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40C34-7896-4960-8449-41FCA172A4E6}" type="datetimeFigureOut">
              <a:rPr lang="ur-PK" smtClean="0"/>
              <a:t>02/08/1447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48673-A6DA-4074-868C-1B7A0C943A96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44519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r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14711" y="573231"/>
            <a:ext cx="4628572" cy="174567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400050" indent="-400050">
              <a:buFont typeface="+mj-lt"/>
              <a:buAutoNum type="romanLcPeriod"/>
            </a:pP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Read CSV rows as time-ordered samples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Extract only the 16 signal columns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Discard timestamp if present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-1020979" y="658198"/>
            <a:ext cx="1856510" cy="1006763"/>
          </a:xfrm>
          <a:prstGeom prst="rightArrow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Raw .csv file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4711" y="-228732"/>
            <a:ext cx="4507345" cy="4525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CSV Loader &amp; Signal Parser</a:t>
            </a:r>
            <a:endParaRPr lang="ur-PK" sz="32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-7170334" y="-3250540"/>
            <a:ext cx="5062928" cy="9903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AUV Fault Diagnosis Dataset</a:t>
            </a:r>
            <a:endParaRPr lang="ur-PK" sz="32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lowchart: Multidocument 8"/>
          <p:cNvSpPr/>
          <p:nvPr/>
        </p:nvSpPr>
        <p:spPr>
          <a:xfrm>
            <a:off x="7126420" y="485484"/>
            <a:ext cx="2484581" cy="1921164"/>
          </a:xfrm>
          <a:prstGeom prst="flowChartMultidocumen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Fixed-Length Window Generator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26420" y="-846980"/>
            <a:ext cx="2921111" cy="9009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Temporal Windowing (Preprocessing)</a:t>
            </a:r>
            <a:endParaRPr lang="ur-PK" sz="32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-1094717" y="1412020"/>
            <a:ext cx="19373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9" idx="1"/>
          </p:cNvCxnSpPr>
          <p:nvPr/>
        </p:nvCxnSpPr>
        <p:spPr>
          <a:xfrm flipV="1">
            <a:off x="5443283" y="1446066"/>
            <a:ext cx="1683137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588897" y="908293"/>
            <a:ext cx="1430200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X∈R^T×16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161237" y="437352"/>
            <a:ext cx="3042745" cy="183342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Arial Narrow" panose="020B0606020202030204" pitchFamily="34" charset="0"/>
              </a:rPr>
              <a:t>Channel-wise Normalization</a:t>
            </a:r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6153" y="-2260151"/>
            <a:ext cx="7014567" cy="4676379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1" name="Rounded Rectangle 20"/>
          <p:cNvSpPr/>
          <p:nvPr/>
        </p:nvSpPr>
        <p:spPr>
          <a:xfrm>
            <a:off x="11201036" y="-594269"/>
            <a:ext cx="2921111" cy="9009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Feature Normalization</a:t>
            </a:r>
            <a:endParaRPr lang="ur-PK" sz="32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3" name="Straight Arrow Connector 22"/>
          <p:cNvCxnSpPr>
            <a:stCxn id="9" idx="3"/>
          </p:cNvCxnSpPr>
          <p:nvPr/>
        </p:nvCxnSpPr>
        <p:spPr>
          <a:xfrm>
            <a:off x="9611001" y="1446066"/>
            <a:ext cx="15502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45899" y="984730"/>
            <a:ext cx="1544012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Wi​∈R^L×16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724920" y="2869324"/>
            <a:ext cx="4459827" cy="3988676"/>
          </a:xfrm>
          <a:prstGeom prst="roundRect">
            <a:avLst/>
          </a:prstGeom>
          <a:solidFill>
            <a:srgbClr val="66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 rot="5400000">
            <a:off x="7076689" y="4751847"/>
            <a:ext cx="482144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 Narrow" panose="020B0606020202030204" pitchFamily="34" charset="0"/>
              </a:rPr>
              <a:t>Temporal Dynamics Expert (TED)</a:t>
            </a:r>
            <a:endParaRPr lang="ur-PK" sz="2800" b="1" dirty="0">
              <a:latin typeface="Arial Narrow" panose="020B060602020203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774012" y="3105847"/>
            <a:ext cx="2257352" cy="59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Conv1D 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774012" y="4015823"/>
            <a:ext cx="2257352" cy="599089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Bias addition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1784" y="4977215"/>
            <a:ext cx="2741515" cy="5857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Nonlinear activation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730752" y="5860173"/>
            <a:ext cx="2257352" cy="59908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Temporal pooling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37" name="Elbow Connector 36"/>
          <p:cNvCxnSpPr>
            <a:stCxn id="20" idx="6"/>
            <a:endCxn id="26" idx="3"/>
          </p:cNvCxnSpPr>
          <p:nvPr/>
        </p:nvCxnSpPr>
        <p:spPr>
          <a:xfrm flipH="1">
            <a:off x="14184747" y="1354062"/>
            <a:ext cx="19235" cy="3509600"/>
          </a:xfrm>
          <a:prstGeom prst="bentConnector3">
            <a:avLst>
              <a:gd name="adj1" fmla="val -11884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 rot="5400000">
            <a:off x="13966529" y="1804153"/>
            <a:ext cx="1516762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W~∈RL×16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693489" y="2869324"/>
            <a:ext cx="4459827" cy="3988676"/>
          </a:xfrm>
          <a:prstGeom prst="roundRect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 rot="5400000">
            <a:off x="2117797" y="4711911"/>
            <a:ext cx="4695516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 Narrow" panose="020B0606020202030204" pitchFamily="34" charset="0"/>
              </a:rPr>
              <a:t>Frequency Domain Expert (FDE)</a:t>
            </a:r>
            <a:endParaRPr lang="ur-PK" sz="2800" b="1" dirty="0">
              <a:latin typeface="Arial Narrow" panose="020B060602020203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878660" y="3113157"/>
            <a:ext cx="3981304" cy="7280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Discrete Fourier Transform 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(per channel)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139320" y="4165842"/>
            <a:ext cx="3507706" cy="5750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Magnitude spectrum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42952" y="5000827"/>
            <a:ext cx="3428585" cy="78961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Feature projection 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(dense or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conv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)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-337942" y="2869324"/>
            <a:ext cx="4459827" cy="3988676"/>
          </a:xfrm>
          <a:prstGeom prst="roundRect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 rot="5400000">
            <a:off x="-3009047" y="4751847"/>
            <a:ext cx="4796506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 Narrow" panose="020B0606020202030204" pitchFamily="34" charset="0"/>
              </a:rPr>
              <a:t>Statistical Behavior Expert (SBE)</a:t>
            </a:r>
            <a:endParaRPr lang="ur-PK" sz="2800" b="1" dirty="0">
              <a:latin typeface="Arial Narrow" panose="020B0606020202030204" pitchFamily="34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11150" y="3105847"/>
            <a:ext cx="2257352" cy="59908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Global Pooling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14399" y="3890171"/>
            <a:ext cx="2744358" cy="174085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For each channel: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i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)Mean 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(ii) Variance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(iii)Kurtosis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9195" y="5828101"/>
            <a:ext cx="2257352" cy="59908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C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oncatenation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53" name="Elbow Connector 52"/>
          <p:cNvCxnSpPr>
            <a:stCxn id="20" idx="4"/>
            <a:endCxn id="40" idx="0"/>
          </p:cNvCxnSpPr>
          <p:nvPr/>
        </p:nvCxnSpPr>
        <p:spPr>
          <a:xfrm rot="5400000">
            <a:off x="9503731" y="-309555"/>
            <a:ext cx="598552" cy="575920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20" idx="3"/>
            <a:endCxn id="46" idx="0"/>
          </p:cNvCxnSpPr>
          <p:nvPr/>
        </p:nvCxnSpPr>
        <p:spPr>
          <a:xfrm rot="5400000">
            <a:off x="6315880" y="-2421633"/>
            <a:ext cx="867050" cy="97148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784608" y="2177189"/>
            <a:ext cx="1516762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W~∈RL×16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557287" y="2503770"/>
            <a:ext cx="1516762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W~∈RL×16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742581" y="6031556"/>
            <a:ext cx="2257352" cy="5990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Feature Mapping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-379962" y="7854511"/>
            <a:ext cx="14564709" cy="991316"/>
          </a:xfrm>
          <a:prstGeom prst="roundRect">
            <a:avLst/>
          </a:prstGeom>
          <a:solidFill>
            <a:srgbClr val="FF66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55285" y="8043027"/>
            <a:ext cx="4467485" cy="551545"/>
          </a:xfrm>
          <a:prstGeom prst="roundRect">
            <a:avLst/>
          </a:prstGeom>
          <a:solidFill>
            <a:srgbClr val="CC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Channel alignment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612982" y="7990358"/>
            <a:ext cx="4091201" cy="602637"/>
          </a:xfrm>
          <a:prstGeom prst="roundRect">
            <a:avLst/>
          </a:prstGeom>
          <a:solidFill>
            <a:srgbClr val="FF99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P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rojection layer</a:t>
            </a:r>
          </a:p>
        </p:txBody>
      </p:sp>
      <p:cxnSp>
        <p:nvCxnSpPr>
          <p:cNvPr id="68" name="Elbow Connector 67"/>
          <p:cNvCxnSpPr>
            <a:stCxn id="46" idx="2"/>
            <a:endCxn id="62" idx="0"/>
          </p:cNvCxnSpPr>
          <p:nvPr/>
        </p:nvCxnSpPr>
        <p:spPr>
          <a:xfrm rot="16200000" flipH="1">
            <a:off x="3898927" y="4851044"/>
            <a:ext cx="996511" cy="501042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26" idx="2"/>
            <a:endCxn id="62" idx="0"/>
          </p:cNvCxnSpPr>
          <p:nvPr/>
        </p:nvCxnSpPr>
        <p:spPr>
          <a:xfrm rot="5400000">
            <a:off x="8930359" y="4830035"/>
            <a:ext cx="996511" cy="505244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91873" y="6868510"/>
            <a:ext cx="10519" cy="5623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924355" y="11045841"/>
            <a:ext cx="9624410" cy="233332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8" name="Down Arrow Callout 87"/>
          <p:cNvSpPr/>
          <p:nvPr/>
        </p:nvSpPr>
        <p:spPr>
          <a:xfrm>
            <a:off x="1668780" y="9284197"/>
            <a:ext cx="10561320" cy="1801580"/>
          </a:xfrm>
          <a:prstGeom prst="downArrowCallou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Attention-weighted feature fusion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Z=</a:t>
            </a:r>
            <a:r>
              <a:rPr lang="el-GR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t​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Zt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​+</a:t>
            </a:r>
            <a:r>
              <a:rPr lang="el-GR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f​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Zf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​+</a:t>
            </a:r>
            <a:r>
              <a:rPr lang="el-GR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s​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Zs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​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2" name="Elbow Connector 91"/>
          <p:cNvCxnSpPr>
            <a:stCxn id="62" idx="2"/>
            <a:endCxn id="88" idx="0"/>
          </p:cNvCxnSpPr>
          <p:nvPr/>
        </p:nvCxnSpPr>
        <p:spPr>
          <a:xfrm rot="16200000" flipH="1">
            <a:off x="6706731" y="9041488"/>
            <a:ext cx="438370" cy="4704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62" idx="1"/>
            <a:endCxn id="88" idx="1"/>
          </p:cNvCxnSpPr>
          <p:nvPr/>
        </p:nvCxnSpPr>
        <p:spPr>
          <a:xfrm rot="10800000" flipH="1" flipV="1">
            <a:off x="-379962" y="8350169"/>
            <a:ext cx="2048742" cy="1519334"/>
          </a:xfrm>
          <a:prstGeom prst="bentConnector3">
            <a:avLst>
              <a:gd name="adj1" fmla="val -111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stCxn id="62" idx="3"/>
            <a:endCxn id="88" idx="3"/>
          </p:cNvCxnSpPr>
          <p:nvPr/>
        </p:nvCxnSpPr>
        <p:spPr>
          <a:xfrm flipH="1">
            <a:off x="12230100" y="8350169"/>
            <a:ext cx="1954647" cy="1519334"/>
          </a:xfrm>
          <a:prstGeom prst="bentConnector3">
            <a:avLst>
              <a:gd name="adj1" fmla="val -116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hevron 97"/>
          <p:cNvSpPr/>
          <p:nvPr/>
        </p:nvSpPr>
        <p:spPr>
          <a:xfrm>
            <a:off x="2507835" y="11280919"/>
            <a:ext cx="3879838" cy="1667435"/>
          </a:xfrm>
          <a:prstGeom prst="chevron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Arial Narrow" panose="020B0606020202030204" pitchFamily="34" charset="0"/>
              </a:rPr>
              <a:t>Fully Connected</a:t>
            </a:r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9" name="Chevron 98"/>
          <p:cNvSpPr/>
          <p:nvPr/>
        </p:nvSpPr>
        <p:spPr>
          <a:xfrm>
            <a:off x="5992334" y="11312288"/>
            <a:ext cx="3879838" cy="1667435"/>
          </a:xfrm>
          <a:prstGeom prst="chevron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Softmax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-64118" y="13676007"/>
            <a:ext cx="2573382" cy="736109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  <a:latin typeface="Arial Narrow" panose="020B0606020202030204" pitchFamily="34" charset="0"/>
              </a:rPr>
              <a:t>Normal</a:t>
            </a:r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2808305" y="13676006"/>
            <a:ext cx="2573382" cy="73610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AddWeight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5763028" y="13676006"/>
            <a:ext cx="2573382" cy="736109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PressureGain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constant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8647026" y="13676005"/>
            <a:ext cx="2573382" cy="736109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PropellerDamage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sligh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11548765" y="13676005"/>
            <a:ext cx="2573382" cy="736109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PropellerDamage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bad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4" name="Elbow Connector 113"/>
          <p:cNvCxnSpPr>
            <a:stCxn id="105" idx="1"/>
            <a:endCxn id="106" idx="0"/>
          </p:cNvCxnSpPr>
          <p:nvPr/>
        </p:nvCxnSpPr>
        <p:spPr>
          <a:xfrm rot="10800000" flipV="1">
            <a:off x="1222573" y="12212501"/>
            <a:ext cx="701782" cy="14635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/>
          <p:cNvCxnSpPr>
            <a:stCxn id="105" idx="3"/>
            <a:endCxn id="110" idx="0"/>
          </p:cNvCxnSpPr>
          <p:nvPr/>
        </p:nvCxnSpPr>
        <p:spPr>
          <a:xfrm>
            <a:off x="11548765" y="12212502"/>
            <a:ext cx="1286691" cy="14635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-4608825" y="2540216"/>
            <a:ext cx="19737538" cy="123395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 sz="24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8" name="Elbow Connector 117"/>
          <p:cNvCxnSpPr/>
          <p:nvPr/>
        </p:nvCxnSpPr>
        <p:spPr>
          <a:xfrm rot="5400000">
            <a:off x="5356706" y="12192112"/>
            <a:ext cx="296844" cy="264156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>
            <a:stCxn id="105" idx="2"/>
            <a:endCxn id="109" idx="0"/>
          </p:cNvCxnSpPr>
          <p:nvPr/>
        </p:nvCxnSpPr>
        <p:spPr>
          <a:xfrm rot="16200000" flipH="1">
            <a:off x="8186717" y="11929004"/>
            <a:ext cx="296843" cy="319715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/>
          <p:cNvCxnSpPr>
            <a:endCxn id="108" idx="0"/>
          </p:cNvCxnSpPr>
          <p:nvPr/>
        </p:nvCxnSpPr>
        <p:spPr>
          <a:xfrm>
            <a:off x="6891873" y="13527682"/>
            <a:ext cx="157846" cy="1483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Striped Right Arrow 131"/>
          <p:cNvSpPr/>
          <p:nvPr/>
        </p:nvSpPr>
        <p:spPr>
          <a:xfrm flipH="1">
            <a:off x="-4575098" y="4732311"/>
            <a:ext cx="3054927" cy="2415687"/>
          </a:xfrm>
          <a:prstGeom prst="striped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Predicted class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𝑦^	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3" name="Striped Right Arrow 132"/>
          <p:cNvSpPr/>
          <p:nvPr/>
        </p:nvSpPr>
        <p:spPr>
          <a:xfrm flipH="1">
            <a:off x="-4608826" y="7346508"/>
            <a:ext cx="3054927" cy="2415687"/>
          </a:xfrm>
          <a:prstGeom prst="striped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Class probabilities</a:t>
            </a:r>
            <a:endParaRPr lang="en-US" sz="2400" dirty="0" smtClean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p(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c∣Z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)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4" name="Striped Right Arrow 133"/>
          <p:cNvSpPr/>
          <p:nvPr/>
        </p:nvSpPr>
        <p:spPr>
          <a:xfrm flipH="1">
            <a:off x="-4587394" y="10146135"/>
            <a:ext cx="3054927" cy="2415687"/>
          </a:xfrm>
          <a:prstGeom prst="stripedRightArrow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Expert weights</a:t>
            </a:r>
            <a:endParaRPr lang="en-US" sz="2400" dirty="0" smtClean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</a:t>
            </a:r>
            <a:r>
              <a:rPr lang="el-GR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t,</a:t>
            </a:r>
            <a:r>
              <a:rPr lang="el-GR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f,</a:t>
            </a:r>
            <a:r>
              <a:rPr lang="el-GR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s)</a:t>
            </a:r>
            <a:endParaRPr lang="ur-PK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006042" y="6949229"/>
            <a:ext cx="925253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Arial Narrow" panose="020B0606020202030204" pitchFamily="34" charset="0"/>
              </a:rPr>
              <a:t>Zt</a:t>
            </a:r>
            <a:r>
              <a:rPr lang="en-US" sz="2400" dirty="0" smtClean="0">
                <a:latin typeface="Arial Narrow" panose="020B0606020202030204" pitchFamily="34" charset="0"/>
              </a:rPr>
              <a:t>​∈Rd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6097030" y="6917166"/>
            <a:ext cx="925253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Arial Narrow" panose="020B0606020202030204" pitchFamily="34" charset="0"/>
              </a:rPr>
              <a:t>Zf</a:t>
            </a:r>
            <a:r>
              <a:rPr lang="en-US" sz="2400" dirty="0" smtClean="0">
                <a:latin typeface="Arial Narrow" panose="020B0606020202030204" pitchFamily="34" charset="0"/>
              </a:rPr>
              <a:t>​∈Rd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0988878" y="6949229"/>
            <a:ext cx="98135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Arial Narrow" panose="020B0606020202030204" pitchFamily="34" charset="0"/>
              </a:rPr>
              <a:t>Zs</a:t>
            </a:r>
            <a:r>
              <a:rPr lang="en-US" sz="2400" dirty="0" smtClean="0">
                <a:latin typeface="Arial Narrow" panose="020B0606020202030204" pitchFamily="34" charset="0"/>
              </a:rPr>
              <a:t>​∈Rd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583878" y="8834180"/>
            <a:ext cx="2731838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Fused feature vector Z</a:t>
            </a:r>
            <a:endParaRPr lang="ur-PK" sz="2400" dirty="0">
              <a:latin typeface="Arial Narrow" panose="020B0606020202030204" pitchFamily="34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9572610" y="11818613"/>
            <a:ext cx="1793598" cy="83099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Arial Narrow" panose="020B0606020202030204" pitchFamily="34" charset="0"/>
              </a:rPr>
              <a:t>p(</a:t>
            </a:r>
            <a:r>
              <a:rPr lang="en-US" sz="2400" b="1" dirty="0" err="1" smtClean="0">
                <a:latin typeface="Arial Narrow" panose="020B0606020202030204" pitchFamily="34" charset="0"/>
              </a:rPr>
              <a:t>c∣Z</a:t>
            </a:r>
            <a:r>
              <a:rPr lang="en-US" sz="2400" b="1" dirty="0" smtClean="0">
                <a:latin typeface="Arial Narrow" panose="020B0606020202030204" pitchFamily="34" charset="0"/>
              </a:rPr>
              <a:t>)</a:t>
            </a:r>
          </a:p>
          <a:p>
            <a:pPr algn="ctr"/>
            <a:r>
              <a:rPr lang="en-US" sz="2400" b="1" dirty="0" smtClean="0">
                <a:latin typeface="Arial Narrow" panose="020B0606020202030204" pitchFamily="34" charset="0"/>
              </a:rPr>
              <a:t>,c∈{1,…,5}</a:t>
            </a:r>
            <a:endParaRPr lang="ur-PK" sz="2400" b="1" dirty="0">
              <a:latin typeface="Arial Narrow" panose="020B0606020202030204" pitchFamily="34" charset="0"/>
            </a:endParaRPr>
          </a:p>
        </p:txBody>
      </p:sp>
      <p:cxnSp>
        <p:nvCxnSpPr>
          <p:cNvPr id="144" name="Straight Arrow Connector 143"/>
          <p:cNvCxnSpPr>
            <a:stCxn id="98" idx="3"/>
            <a:endCxn id="99" idx="1"/>
          </p:cNvCxnSpPr>
          <p:nvPr/>
        </p:nvCxnSpPr>
        <p:spPr>
          <a:xfrm>
            <a:off x="6387673" y="12114637"/>
            <a:ext cx="438379" cy="31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11570096" y="10431420"/>
            <a:ext cx="36968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Arial Narrow" panose="020B0606020202030204" pitchFamily="34" charset="0"/>
              </a:rPr>
              <a:t>Expert Fusion Module</a:t>
            </a:r>
            <a:endParaRPr lang="ur-PK" sz="3200" b="1" dirty="0">
              <a:latin typeface="Arial Narrow" panose="020B0606020202030204" pitchFamily="34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-822203" y="10863574"/>
            <a:ext cx="24420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Arial Narrow" panose="020B0606020202030204" pitchFamily="34" charset="0"/>
              </a:rPr>
              <a:t>Fault Classification Head</a:t>
            </a:r>
            <a:endParaRPr lang="ur-PK" sz="3200" b="1" dirty="0">
              <a:latin typeface="Arial Narrow" panose="020B0606020202030204" pitchFamily="34" charset="0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10730752" y="7330769"/>
            <a:ext cx="41190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latin typeface="Arial Narrow" panose="020B0606020202030204" pitchFamily="34" charset="0"/>
              </a:rPr>
              <a:t>Feature Alignment Layer</a:t>
            </a:r>
            <a:endParaRPr lang="ur-PK" sz="3200" b="1" dirty="0">
              <a:latin typeface="Arial Narrow" panose="020B0606020202030204" pitchFamily="34" charset="0"/>
            </a:endParaRPr>
          </a:p>
        </p:txBody>
      </p:sp>
      <p:sp>
        <p:nvSpPr>
          <p:cNvPr id="3" name="Flowchart: Preparation 2"/>
          <p:cNvSpPr/>
          <p:nvPr/>
        </p:nvSpPr>
        <p:spPr>
          <a:xfrm>
            <a:off x="-8467335" y="4165842"/>
            <a:ext cx="3637044" cy="2982180"/>
          </a:xfrm>
          <a:prstGeom prst="flowChartPreparati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Explainable AI </a:t>
            </a:r>
            <a:endParaRPr lang="ur-PK" sz="36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7" name="Flowchart: Preparation 76"/>
          <p:cNvSpPr/>
          <p:nvPr/>
        </p:nvSpPr>
        <p:spPr>
          <a:xfrm>
            <a:off x="-8330575" y="7410894"/>
            <a:ext cx="3505200" cy="2982180"/>
          </a:xfrm>
          <a:prstGeom prst="flowChartPreparat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Ethical AI </a:t>
            </a:r>
            <a:endParaRPr lang="ur-PK" sz="36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8" name="Flowchart: Preparation 77"/>
          <p:cNvSpPr/>
          <p:nvPr/>
        </p:nvSpPr>
        <p:spPr>
          <a:xfrm>
            <a:off x="-8651862" y="10743021"/>
            <a:ext cx="3838906" cy="2982180"/>
          </a:xfrm>
          <a:prstGeom prst="flowChartPreparat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Arial Narrow" panose="020B0606020202030204" pitchFamily="34" charset="0"/>
              </a:rPr>
              <a:t>Edge &amp; Real-Time Constraints</a:t>
            </a:r>
            <a:endParaRPr lang="ur-PK" sz="360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 rot="5400000">
            <a:off x="14136039" y="6389813"/>
            <a:ext cx="331693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b="1" dirty="0" err="1">
                <a:latin typeface="Arial Narrow" panose="020B0606020202030204" pitchFamily="34" charset="0"/>
              </a:rPr>
              <a:t>FEMNet</a:t>
            </a:r>
            <a:endParaRPr lang="ur-PK" sz="8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67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3" t="8308" b="74652"/>
          <a:stretch/>
        </p:blipFill>
        <p:spPr>
          <a:xfrm>
            <a:off x="-240147" y="1139392"/>
            <a:ext cx="6797963" cy="1012485"/>
          </a:xfrm>
        </p:spPr>
      </p:pic>
      <p:sp>
        <p:nvSpPr>
          <p:cNvPr id="6" name="Rectangle 5"/>
          <p:cNvSpPr/>
          <p:nvPr/>
        </p:nvSpPr>
        <p:spPr>
          <a:xfrm rot="16200000">
            <a:off x="-1277935" y="1321154"/>
            <a:ext cx="1549103" cy="526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</a:t>
            </a:r>
            <a:r>
              <a:rPr lang="en-US" b="1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i</a:t>
            </a:r>
            <a:r>
              <a:rPr lang="en-US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) Add weight </a:t>
            </a:r>
            <a:endParaRPr lang="ur-PK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6046501" y="1321153"/>
            <a:ext cx="1549103" cy="526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(ii) Normal</a:t>
            </a:r>
            <a:endParaRPr lang="ur-PK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7" t="25993" b="56903"/>
          <a:stretch/>
        </p:blipFill>
        <p:spPr>
          <a:xfrm>
            <a:off x="7084289" y="1174675"/>
            <a:ext cx="6413813" cy="9550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0" t="43232" b="39663"/>
          <a:stretch/>
        </p:blipFill>
        <p:spPr>
          <a:xfrm>
            <a:off x="7193384" y="3934073"/>
            <a:ext cx="6376867" cy="9550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88783" y="2598869"/>
            <a:ext cx="1902691" cy="428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(</a:t>
            </a:r>
            <a:r>
              <a:rPr lang="en-US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ii) 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Propeller damage slight</a:t>
            </a:r>
            <a:endParaRPr lang="ur-PK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1" t="61145" b="22828"/>
          <a:stretch/>
        </p:blipFill>
        <p:spPr>
          <a:xfrm>
            <a:off x="-277145" y="3941653"/>
            <a:ext cx="6741995" cy="94885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6200000">
            <a:off x="-1427193" y="4113059"/>
            <a:ext cx="1549103" cy="526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(iv) Propeller damage bad</a:t>
            </a:r>
            <a:endParaRPr lang="ur-PK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 rot="16200000">
            <a:off x="6065797" y="4379017"/>
            <a:ext cx="1549103" cy="526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(v) Pressure gain constant</a:t>
            </a:r>
            <a:endParaRPr lang="ur-PK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9" t="78350"/>
          <a:stretch/>
        </p:blipFill>
        <p:spPr>
          <a:xfrm>
            <a:off x="3491474" y="2382981"/>
            <a:ext cx="6350872" cy="12088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9" t="93891"/>
          <a:stretch/>
        </p:blipFill>
        <p:spPr>
          <a:xfrm>
            <a:off x="-189090" y="2075181"/>
            <a:ext cx="6746906" cy="3411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9" t="93891"/>
          <a:stretch/>
        </p:blipFill>
        <p:spPr>
          <a:xfrm>
            <a:off x="7192283" y="2041869"/>
            <a:ext cx="6197823" cy="34111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9" t="93891"/>
          <a:stretch/>
        </p:blipFill>
        <p:spPr>
          <a:xfrm>
            <a:off x="-240147" y="4860822"/>
            <a:ext cx="6612667" cy="34111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9" t="93891"/>
          <a:stretch/>
        </p:blipFill>
        <p:spPr>
          <a:xfrm>
            <a:off x="7262046" y="4841968"/>
            <a:ext cx="6289351" cy="34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33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244</Words>
  <Application>Microsoft Office PowerPoint</Application>
  <PresentationFormat>Widescreen</PresentationFormat>
  <Paragraphs>69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Moorche</dc:creator>
  <cp:lastModifiedBy>Moorche</cp:lastModifiedBy>
  <cp:revision>49</cp:revision>
  <dcterms:created xsi:type="dcterms:W3CDTF">2026-01-12T18:19:03Z</dcterms:created>
  <dcterms:modified xsi:type="dcterms:W3CDTF">2026-01-19T19:28:37Z</dcterms:modified>
</cp:coreProperties>
</file>